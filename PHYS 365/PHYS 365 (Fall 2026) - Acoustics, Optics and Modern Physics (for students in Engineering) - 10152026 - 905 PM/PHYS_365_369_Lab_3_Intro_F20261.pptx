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96" r:id="rId2"/>
    <p:sldId id="322" r:id="rId3"/>
    <p:sldId id="310" r:id="rId4"/>
    <p:sldId id="323" r:id="rId5"/>
    <p:sldId id="321" r:id="rId6"/>
    <p:sldId id="311" r:id="rId7"/>
    <p:sldId id="324" r:id="rId8"/>
    <p:sldId id="314" r:id="rId9"/>
    <p:sldId id="315" r:id="rId10"/>
    <p:sldId id="317" r:id="rId11"/>
    <p:sldId id="319" r:id="rId12"/>
    <p:sldId id="32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272" autoAdjust="0"/>
  </p:normalViewPr>
  <p:slideViewPr>
    <p:cSldViewPr>
      <p:cViewPr varScale="1">
        <p:scale>
          <a:sx n="101" d="100"/>
          <a:sy n="101" d="100"/>
        </p:scale>
        <p:origin x="2504" y="20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E8FF5-3986-4619-ADB6-264CAEACF998}" type="datetimeFigureOut">
              <a:rPr lang="en-US" smtClean="0"/>
              <a:t>8/29/22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99528E-D9AF-4DA1-ACF9-4D645755BA0A}" type="slidenum">
              <a:rPr lang="en-US" smtClean="0"/>
              <a:t>‹#›</a:t>
            </a:fld>
            <a:endParaRPr lang="en-US"/>
          </a:p>
        </p:txBody>
      </p:sp>
    </p:spTree>
    <p:extLst>
      <p:ext uri="{BB962C8B-B14F-4D97-AF65-F5344CB8AC3E}">
        <p14:creationId xmlns:p14="http://schemas.microsoft.com/office/powerpoint/2010/main" val="21031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99528E-D9AF-4DA1-ACF9-4D645755BA0A}" type="slidenum">
              <a:rPr lang="en-US" smtClean="0"/>
              <a:t>2</a:t>
            </a:fld>
            <a:endParaRPr lang="en-US"/>
          </a:p>
        </p:txBody>
      </p:sp>
    </p:spTree>
    <p:extLst>
      <p:ext uri="{BB962C8B-B14F-4D97-AF65-F5344CB8AC3E}">
        <p14:creationId xmlns:p14="http://schemas.microsoft.com/office/powerpoint/2010/main" val="118582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BD99528E-D9AF-4DA1-ACF9-4D645755BA0A}" type="slidenum">
              <a:rPr lang="en-US" smtClean="0"/>
              <a:t>5</a:t>
            </a:fld>
            <a:endParaRPr lang="en-US"/>
          </a:p>
        </p:txBody>
      </p:sp>
    </p:spTree>
    <p:extLst>
      <p:ext uri="{BB962C8B-B14F-4D97-AF65-F5344CB8AC3E}">
        <p14:creationId xmlns:p14="http://schemas.microsoft.com/office/powerpoint/2010/main" val="3584154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order to estimate the uncertainty in </a:t>
            </a:r>
            <a:r>
              <a:rPr lang="en-US" sz="1200" b="0" i="0" u="none" strike="noStrike" kern="1200" baseline="0" dirty="0" err="1">
                <a:solidFill>
                  <a:schemeClr val="tx1"/>
                </a:solidFill>
                <a:latin typeface="+mn-lt"/>
                <a:ea typeface="+mn-ea"/>
                <a:cs typeface="+mn-cs"/>
              </a:rPr>
              <a:t>fn</a:t>
            </a:r>
            <a:r>
              <a:rPr lang="en-US" sz="1200" b="0" i="0" u="none" strike="noStrike" kern="1200" baseline="0" dirty="0">
                <a:solidFill>
                  <a:schemeClr val="tx1"/>
                </a:solidFill>
                <a:latin typeface="+mn-lt"/>
                <a:ea typeface="+mn-ea"/>
                <a:cs typeface="+mn-cs"/>
              </a:rPr>
              <a:t> , find the difference between</a:t>
            </a:r>
          </a:p>
          <a:p>
            <a:r>
              <a:rPr lang="en-US" sz="1200" b="0" i="0" u="none" strike="noStrike" kern="1200" baseline="0" dirty="0">
                <a:solidFill>
                  <a:schemeClr val="tx1"/>
                </a:solidFill>
                <a:latin typeface="+mn-lt"/>
                <a:ea typeface="+mn-ea"/>
                <a:cs typeface="+mn-cs"/>
              </a:rPr>
              <a:t>the frequency when the amplitude of the standing wave is at</a:t>
            </a:r>
          </a:p>
          <a:p>
            <a:r>
              <a:rPr lang="en-US" sz="1200" b="0" i="0" u="none" strike="noStrike" kern="1200" baseline="0" dirty="0">
                <a:solidFill>
                  <a:schemeClr val="tx1"/>
                </a:solidFill>
                <a:latin typeface="+mn-lt"/>
                <a:ea typeface="+mn-ea"/>
                <a:cs typeface="+mn-cs"/>
              </a:rPr>
              <a:t>its maximum and when the amplitude is reduced to half of its maximum</a:t>
            </a:r>
          </a:p>
          <a:p>
            <a:r>
              <a:rPr lang="en-US" sz="1200" b="0" i="0" u="none" strike="noStrike" kern="1200" baseline="0" dirty="0">
                <a:solidFill>
                  <a:schemeClr val="tx1"/>
                </a:solidFill>
                <a:latin typeface="+mn-lt"/>
                <a:ea typeface="+mn-ea"/>
                <a:cs typeface="+mn-cs"/>
              </a:rPr>
              <a:t>value.</a:t>
            </a:r>
          </a:p>
          <a:p>
            <a:r>
              <a:rPr lang="en-US" sz="1200" b="0" i="0" u="none" strike="noStrike" kern="1200" baseline="0" dirty="0">
                <a:solidFill>
                  <a:schemeClr val="tx1"/>
                </a:solidFill>
                <a:latin typeface="+mn-lt"/>
                <a:ea typeface="+mn-ea"/>
                <a:cs typeface="+mn-cs"/>
              </a:rPr>
              <a:t>For the modes you can see. At least 8 points</a:t>
            </a:r>
            <a:endParaRPr lang="en-US" dirty="0"/>
          </a:p>
        </p:txBody>
      </p:sp>
      <p:sp>
        <p:nvSpPr>
          <p:cNvPr id="4" name="Slide Number Placeholder 3"/>
          <p:cNvSpPr>
            <a:spLocks noGrp="1"/>
          </p:cNvSpPr>
          <p:nvPr>
            <p:ph type="sldNum" sz="quarter" idx="10"/>
          </p:nvPr>
        </p:nvSpPr>
        <p:spPr/>
        <p:txBody>
          <a:bodyPr/>
          <a:lstStyle/>
          <a:p>
            <a:fld id="{BD99528E-D9AF-4DA1-ACF9-4D645755BA0A}" type="slidenum">
              <a:rPr lang="en-US" smtClean="0"/>
              <a:t>6</a:t>
            </a:fld>
            <a:endParaRPr lang="en-US"/>
          </a:p>
        </p:txBody>
      </p:sp>
    </p:spTree>
    <p:extLst>
      <p:ext uri="{BB962C8B-B14F-4D97-AF65-F5344CB8AC3E}">
        <p14:creationId xmlns:p14="http://schemas.microsoft.com/office/powerpoint/2010/main" val="3204980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Use the Excel Line fitting template with uncertainties</a:t>
            </a:r>
          </a:p>
        </p:txBody>
      </p:sp>
      <p:sp>
        <p:nvSpPr>
          <p:cNvPr id="4" name="Slide Number Placeholder 3"/>
          <p:cNvSpPr>
            <a:spLocks noGrp="1"/>
          </p:cNvSpPr>
          <p:nvPr>
            <p:ph type="sldNum" sz="quarter" idx="10"/>
          </p:nvPr>
        </p:nvSpPr>
        <p:spPr/>
        <p:txBody>
          <a:bodyPr/>
          <a:lstStyle/>
          <a:p>
            <a:fld id="{BD99528E-D9AF-4DA1-ACF9-4D645755BA0A}" type="slidenum">
              <a:rPr lang="en-US" smtClean="0"/>
              <a:t>8</a:t>
            </a:fld>
            <a:endParaRPr lang="en-US"/>
          </a:p>
        </p:txBody>
      </p:sp>
    </p:spTree>
    <p:extLst>
      <p:ext uri="{BB962C8B-B14F-4D97-AF65-F5344CB8AC3E}">
        <p14:creationId xmlns:p14="http://schemas.microsoft.com/office/powerpoint/2010/main" val="3908974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Part1(f vs n): Separately, calculate the speed as v =</a:t>
            </a:r>
            <a:r>
              <a:rPr lang="en-US" sz="1200" b="0" i="0" u="none" strike="noStrike" kern="1200" baseline="0" dirty="0" err="1">
                <a:solidFill>
                  <a:schemeClr val="tx1"/>
                </a:solidFill>
                <a:latin typeface="+mn-lt"/>
                <a:ea typeface="+mn-ea"/>
                <a:cs typeface="+mn-cs"/>
              </a:rPr>
              <a:t>sqrt</a:t>
            </a:r>
            <a:r>
              <a:rPr lang="en-US" sz="1200" b="0" i="0" u="none" strike="noStrike" kern="1200" baseline="0" dirty="0">
                <a:solidFill>
                  <a:schemeClr val="tx1"/>
                </a:solidFill>
                <a:latin typeface="+mn-lt"/>
                <a:ea typeface="+mn-ea"/>
                <a:cs typeface="+mn-cs"/>
              </a:rPr>
              <a:t>(T/</a:t>
            </a:r>
            <a:r>
              <a:rPr lang="el-GR" i="1" dirty="0">
                <a:latin typeface="Arial" panose="020B0604020202020204" pitchFamily="34" charset="0"/>
                <a:cs typeface="Arial" panose="020B0604020202020204" pitchFamily="34" charset="0"/>
              </a:rPr>
              <a:t>μ</a:t>
            </a:r>
            <a:r>
              <a:rPr lang="en-US" sz="1200" b="0" i="1"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and use the measured value of L to calculate the expected</a:t>
            </a:r>
          </a:p>
          <a:p>
            <a:r>
              <a:rPr lang="en-US" sz="1200" b="0" i="0" u="none" strike="noStrike" kern="1200" baseline="0" dirty="0">
                <a:solidFill>
                  <a:schemeClr val="tx1"/>
                </a:solidFill>
                <a:latin typeface="+mn-lt"/>
                <a:ea typeface="+mn-ea"/>
                <a:cs typeface="+mn-cs"/>
              </a:rPr>
              <a:t>value of the slope. Then compare the experimental value of the slope with the expected value</a:t>
            </a:r>
            <a:endParaRPr lang="en-US" dirty="0"/>
          </a:p>
          <a:p>
            <a:r>
              <a:rPr lang="en-US" dirty="0"/>
              <a:t>Part2 (ln(v) vs ln(T)): expected slope= 0.5</a:t>
            </a:r>
          </a:p>
        </p:txBody>
      </p:sp>
      <p:sp>
        <p:nvSpPr>
          <p:cNvPr id="4" name="Slide Number Placeholder 3"/>
          <p:cNvSpPr>
            <a:spLocks noGrp="1"/>
          </p:cNvSpPr>
          <p:nvPr>
            <p:ph type="sldNum" sz="quarter" idx="10"/>
          </p:nvPr>
        </p:nvSpPr>
        <p:spPr/>
        <p:txBody>
          <a:bodyPr/>
          <a:lstStyle/>
          <a:p>
            <a:fld id="{BD99528E-D9AF-4DA1-ACF9-4D645755BA0A}" type="slidenum">
              <a:rPr lang="en-US" smtClean="0"/>
              <a:t>10</a:t>
            </a:fld>
            <a:endParaRPr lang="en-US"/>
          </a:p>
        </p:txBody>
      </p:sp>
    </p:spTree>
    <p:extLst>
      <p:ext uri="{BB962C8B-B14F-4D97-AF65-F5344CB8AC3E}">
        <p14:creationId xmlns:p14="http://schemas.microsoft.com/office/powerpoint/2010/main" val="3714284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20" name="Footer Placeholder 19"/>
          <p:cNvSpPr>
            <a:spLocks noGrp="1"/>
          </p:cNvSpPr>
          <p:nvPr>
            <p:ph type="ftr" sz="quarter" idx="11"/>
          </p:nvPr>
        </p:nvSpPr>
        <p:spPr/>
        <p:txBody>
          <a:bodyPr/>
          <a:lstStyle/>
          <a:p>
            <a:endParaRPr lang="en-US" dirty="0">
              <a:solidFill>
                <a:srgbClr val="E7DEC9">
                  <a:shade val="50000"/>
                  <a:satMod val="200000"/>
                </a:srgbClr>
              </a:solidFill>
            </a:endParaRPr>
          </a:p>
        </p:txBody>
      </p:sp>
      <p:sp>
        <p:nvSpPr>
          <p:cNvPr id="10" name="Slide Number Placeholder 9"/>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dirty="0">
              <a:solidFill>
                <a:prstClr val="black"/>
              </a:solidFill>
            </a:endParaRPr>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dirty="0">
              <a:solidFill>
                <a:prstClr val="black"/>
              </a:solidFill>
            </a:endParaRPr>
          </a:p>
        </p:txBody>
      </p:sp>
    </p:spTree>
    <p:extLst>
      <p:ext uri="{BB962C8B-B14F-4D97-AF65-F5344CB8AC3E}">
        <p14:creationId xmlns:p14="http://schemas.microsoft.com/office/powerpoint/2010/main" val="2707049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5" name="Footer Placeholder 4"/>
          <p:cNvSpPr>
            <a:spLocks noGrp="1"/>
          </p:cNvSpPr>
          <p:nvPr>
            <p:ph type="ftr" sz="quarter" idx="11"/>
          </p:nvPr>
        </p:nvSpPr>
        <p:spPr/>
        <p:txBody>
          <a:bodyPr/>
          <a:lstStyle/>
          <a:p>
            <a:endParaRPr lang="en-US" dirty="0">
              <a:solidFill>
                <a:srgbClr val="E7DEC9">
                  <a:shade val="50000"/>
                  <a:satMod val="200000"/>
                </a:srgbClr>
              </a:solidFill>
            </a:endParaRPr>
          </a:p>
        </p:txBody>
      </p:sp>
      <p:sp>
        <p:nvSpPr>
          <p:cNvPr id="6" name="Slide Number Placeholder 5"/>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2417917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5" name="Footer Placeholder 4"/>
          <p:cNvSpPr>
            <a:spLocks noGrp="1"/>
          </p:cNvSpPr>
          <p:nvPr>
            <p:ph type="ftr" sz="quarter" idx="11"/>
          </p:nvPr>
        </p:nvSpPr>
        <p:spPr/>
        <p:txBody>
          <a:bodyPr/>
          <a:lstStyle/>
          <a:p>
            <a:endParaRPr lang="en-US" dirty="0">
              <a:solidFill>
                <a:srgbClr val="E7DEC9">
                  <a:shade val="50000"/>
                  <a:satMod val="200000"/>
                </a:srgbClr>
              </a:solidFill>
            </a:endParaRPr>
          </a:p>
        </p:txBody>
      </p:sp>
      <p:sp>
        <p:nvSpPr>
          <p:cNvPr id="6" name="Slide Number Placeholder 5"/>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dirty="0">
              <a:solidFill>
                <a:prstClr val="black"/>
              </a:solidFill>
            </a:endParaRPr>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dirty="0">
              <a:solidFill>
                <a:prstClr val="black"/>
              </a:solidFill>
            </a:endParaRPr>
          </a:p>
        </p:txBody>
      </p:sp>
    </p:spTree>
    <p:extLst>
      <p:ext uri="{BB962C8B-B14F-4D97-AF65-F5344CB8AC3E}">
        <p14:creationId xmlns:p14="http://schemas.microsoft.com/office/powerpoint/2010/main" val="1790688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6" name="Footer Placeholder 5"/>
          <p:cNvSpPr>
            <a:spLocks noGrp="1"/>
          </p:cNvSpPr>
          <p:nvPr>
            <p:ph type="ftr" sz="quarter" idx="11"/>
          </p:nvPr>
        </p:nvSpPr>
        <p:spPr/>
        <p:txBody>
          <a:bodyPr/>
          <a:lstStyle/>
          <a:p>
            <a:endParaRPr lang="en-US" dirty="0">
              <a:solidFill>
                <a:srgbClr val="E7DEC9">
                  <a:shade val="50000"/>
                  <a:satMod val="200000"/>
                </a:srgbClr>
              </a:solidFill>
            </a:endParaRPr>
          </a:p>
        </p:txBody>
      </p:sp>
      <p:sp>
        <p:nvSpPr>
          <p:cNvPr id="7" name="Slide Number Placeholder 6"/>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1534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8" name="Footer Placeholder 7"/>
          <p:cNvSpPr>
            <a:spLocks noGrp="1"/>
          </p:cNvSpPr>
          <p:nvPr>
            <p:ph type="ftr" sz="quarter" idx="11"/>
          </p:nvPr>
        </p:nvSpPr>
        <p:spPr/>
        <p:txBody>
          <a:bodyPr/>
          <a:lstStyle/>
          <a:p>
            <a:endParaRPr lang="en-US" dirty="0">
              <a:solidFill>
                <a:srgbClr val="E7DEC9">
                  <a:shade val="50000"/>
                  <a:satMod val="200000"/>
                </a:srgbClr>
              </a:solidFill>
            </a:endParaRPr>
          </a:p>
        </p:txBody>
      </p:sp>
      <p:sp>
        <p:nvSpPr>
          <p:cNvPr id="9" name="Slide Number Placeholder 8"/>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331297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4" name="Footer Placeholder 3"/>
          <p:cNvSpPr>
            <a:spLocks noGrp="1"/>
          </p:cNvSpPr>
          <p:nvPr>
            <p:ph type="ftr" sz="quarter" idx="11"/>
          </p:nvPr>
        </p:nvSpPr>
        <p:spPr/>
        <p:txBody>
          <a:bodyPr/>
          <a:lstStyle/>
          <a:p>
            <a:endParaRPr lang="en-US" dirty="0">
              <a:solidFill>
                <a:srgbClr val="E7DEC9">
                  <a:shade val="50000"/>
                  <a:satMod val="200000"/>
                </a:srgbClr>
              </a:solidFill>
            </a:endParaRPr>
          </a:p>
        </p:txBody>
      </p:sp>
      <p:sp>
        <p:nvSpPr>
          <p:cNvPr id="5" name="Slide Number Placeholder 4"/>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254618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 name="Date Placeholder 1"/>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3" name="Footer Placeholder 2"/>
          <p:cNvSpPr>
            <a:spLocks noGrp="1"/>
          </p:cNvSpPr>
          <p:nvPr>
            <p:ph type="ftr" sz="quarter" idx="11"/>
          </p:nvPr>
        </p:nvSpPr>
        <p:spPr/>
        <p:txBody>
          <a:bodyPr/>
          <a:lstStyle/>
          <a:p>
            <a:endParaRPr lang="en-US" dirty="0">
              <a:solidFill>
                <a:srgbClr val="E7DEC9">
                  <a:shade val="50000"/>
                  <a:satMod val="200000"/>
                </a:srgbClr>
              </a:solidFill>
            </a:endParaRPr>
          </a:p>
        </p:txBody>
      </p:sp>
      <p:sp>
        <p:nvSpPr>
          <p:cNvPr id="4" name="Slide Number Placeholder 3"/>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Tree>
    <p:extLst>
      <p:ext uri="{BB962C8B-B14F-4D97-AF65-F5344CB8AC3E}">
        <p14:creationId xmlns:p14="http://schemas.microsoft.com/office/powerpoint/2010/main" val="58751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6" name="Footer Placeholder 5"/>
          <p:cNvSpPr>
            <a:spLocks noGrp="1"/>
          </p:cNvSpPr>
          <p:nvPr>
            <p:ph type="ftr" sz="quarter" idx="11"/>
          </p:nvPr>
        </p:nvSpPr>
        <p:spPr/>
        <p:txBody>
          <a:bodyPr/>
          <a:lstStyle/>
          <a:p>
            <a:endParaRPr lang="en-US" dirty="0">
              <a:solidFill>
                <a:srgbClr val="E7DEC9">
                  <a:shade val="50000"/>
                  <a:satMod val="200000"/>
                </a:srgbClr>
              </a:solidFill>
            </a:endParaRPr>
          </a:p>
        </p:txBody>
      </p:sp>
      <p:sp>
        <p:nvSpPr>
          <p:cNvPr id="7" name="Slide Number Placeholder 6"/>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1238971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6" name="Footer Placeholder 5"/>
          <p:cNvSpPr>
            <a:spLocks noGrp="1"/>
          </p:cNvSpPr>
          <p:nvPr>
            <p:ph type="ftr" sz="quarter" idx="11"/>
          </p:nvPr>
        </p:nvSpPr>
        <p:spPr/>
        <p:txBody>
          <a:bodyPr/>
          <a:lstStyle/>
          <a:p>
            <a:endParaRPr lang="en-US" dirty="0">
              <a:solidFill>
                <a:srgbClr val="E7DEC9">
                  <a:shade val="50000"/>
                  <a:satMod val="200000"/>
                </a:srgbClr>
              </a:solidFill>
            </a:endParaRPr>
          </a:p>
        </p:txBody>
      </p:sp>
      <p:sp>
        <p:nvSpPr>
          <p:cNvPr id="7" name="Slide Number Placeholder 6"/>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indent="-283464">
              <a:lnSpc>
                <a:spcPts val="3000"/>
              </a:lnSpc>
              <a:spcBef>
                <a:spcPts val="600"/>
              </a:spcBef>
              <a:buClr>
                <a:srgbClr val="3891A7"/>
              </a:buClr>
              <a:buSzPct val="80000"/>
              <a:buFont typeface="Wingdings 2"/>
              <a:buNone/>
            </a:pPr>
            <a:endParaRPr lang="en-US" sz="3200" dirty="0">
              <a:solidFill>
                <a:prstClr val="black"/>
              </a:solidFill>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extLst>
      <p:ext uri="{BB962C8B-B14F-4D97-AF65-F5344CB8AC3E}">
        <p14:creationId xmlns:p14="http://schemas.microsoft.com/office/powerpoint/2010/main" val="68438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5" name="Footer Placeholder 4"/>
          <p:cNvSpPr>
            <a:spLocks noGrp="1"/>
          </p:cNvSpPr>
          <p:nvPr>
            <p:ph type="ftr" sz="quarter" idx="11"/>
          </p:nvPr>
        </p:nvSpPr>
        <p:spPr/>
        <p:txBody>
          <a:bodyPr/>
          <a:lstStyle/>
          <a:p>
            <a:endParaRPr lang="en-US" dirty="0">
              <a:solidFill>
                <a:srgbClr val="E7DEC9">
                  <a:shade val="50000"/>
                  <a:satMod val="200000"/>
                </a:srgbClr>
              </a:solidFill>
            </a:endParaRPr>
          </a:p>
        </p:txBody>
      </p:sp>
      <p:sp>
        <p:nvSpPr>
          <p:cNvPr id="6" name="Slide Number Placeholder 5"/>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3102060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5" name="Footer Placeholder 4"/>
          <p:cNvSpPr>
            <a:spLocks noGrp="1"/>
          </p:cNvSpPr>
          <p:nvPr>
            <p:ph type="ftr" sz="quarter" idx="11"/>
          </p:nvPr>
        </p:nvSpPr>
        <p:spPr/>
        <p:txBody>
          <a:bodyPr/>
          <a:lstStyle/>
          <a:p>
            <a:endParaRPr lang="en-US" dirty="0">
              <a:solidFill>
                <a:srgbClr val="E7DEC9">
                  <a:shade val="50000"/>
                  <a:satMod val="200000"/>
                </a:srgbClr>
              </a:solidFill>
            </a:endParaRPr>
          </a:p>
        </p:txBody>
      </p:sp>
      <p:sp>
        <p:nvSpPr>
          <p:cNvPr id="6" name="Slide Number Placeholder 5"/>
          <p:cNvSpPr>
            <a:spLocks noGrp="1"/>
          </p:cNvSpPr>
          <p:nvPr>
            <p:ph type="sldNum" sz="quarter" idx="12"/>
          </p:nvPr>
        </p:nvSpPr>
        <p:spPr/>
        <p:txBody>
          <a:bodyPr/>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Tree>
    <p:extLst>
      <p:ext uri="{BB962C8B-B14F-4D97-AF65-F5344CB8AC3E}">
        <p14:creationId xmlns:p14="http://schemas.microsoft.com/office/powerpoint/2010/main" val="288928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4C78E68-D4F7-4A2B-9146-5375FAA220FD}" type="datetimeFigureOut">
              <a:rPr lang="en-US" smtClean="0">
                <a:solidFill>
                  <a:srgbClr val="E7DEC9">
                    <a:shade val="50000"/>
                    <a:satMod val="200000"/>
                  </a:srgbClr>
                </a:solidFill>
              </a:rPr>
              <a:pPr/>
              <a:t>8/29/22</a:t>
            </a:fld>
            <a:endParaRPr lang="en-US" dirty="0">
              <a:solidFill>
                <a:srgbClr val="E7DEC9">
                  <a:shade val="50000"/>
                  <a:satMod val="200000"/>
                </a:srgbClr>
              </a:solidFill>
            </a:endParaRPr>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solidFill>
                <a:srgbClr val="E7DEC9">
                  <a:shade val="50000"/>
                  <a:satMod val="200000"/>
                </a:srgbClr>
              </a:solidFill>
            </a:endParaRP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CA1448C-9630-4E78-B195-103BA62ABEAD}" type="slidenum">
              <a:rPr lang="en-US" smtClean="0">
                <a:solidFill>
                  <a:srgbClr val="E7DEC9">
                    <a:shade val="50000"/>
                    <a:satMod val="200000"/>
                  </a:srgbClr>
                </a:solidFill>
              </a:rPr>
              <a:pPr/>
              <a:t>‹#›</a:t>
            </a:fld>
            <a:endParaRPr lang="en-US" dirty="0">
              <a:solidFill>
                <a:srgbClr val="E7DEC9">
                  <a:shade val="50000"/>
                  <a:satMod val="200000"/>
                </a:srgbClr>
              </a:solidFill>
            </a:endParaRPr>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Tree>
    <p:extLst>
      <p:ext uri="{BB962C8B-B14F-4D97-AF65-F5344CB8AC3E}">
        <p14:creationId xmlns:p14="http://schemas.microsoft.com/office/powerpoint/2010/main" val="1037128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43726" y="1447800"/>
            <a:ext cx="7519274" cy="2616101"/>
          </a:xfrm>
          <a:prstGeom prst="rect">
            <a:avLst/>
          </a:prstGeom>
          <a:noFill/>
        </p:spPr>
        <p:txBody>
          <a:bodyPr wrap="square" rtlCol="0">
            <a:spAutoFit/>
          </a:bodyPr>
          <a:lstStyle/>
          <a:p>
            <a:pPr algn="ctr">
              <a:spcAft>
                <a:spcPts val="1200"/>
              </a:spcAft>
            </a:pPr>
            <a:r>
              <a:rPr lang="en-US" sz="6600" dirty="0">
                <a:solidFill>
                  <a:srgbClr val="0070C0"/>
                </a:solidFill>
                <a:latin typeface="Arial" panose="020B0604020202020204" pitchFamily="34" charset="0"/>
                <a:cs typeface="Arial" panose="020B0604020202020204" pitchFamily="34" charset="0"/>
              </a:rPr>
              <a:t>Experiment 3</a:t>
            </a:r>
          </a:p>
          <a:p>
            <a:pPr algn="ctr"/>
            <a:r>
              <a:rPr lang="en-US" sz="4000" dirty="0">
                <a:latin typeface="Arial" panose="020B0604020202020204" pitchFamily="34" charset="0"/>
                <a:cs typeface="Arial" panose="020B0604020202020204" pitchFamily="34" charset="0"/>
              </a:rPr>
              <a:t>Standing waves</a:t>
            </a:r>
          </a:p>
          <a:p>
            <a:pPr algn="ctr"/>
            <a:endParaRPr lang="en-US" sz="1600" dirty="0">
              <a:latin typeface="Arial" panose="020B0604020202020204" pitchFamily="34" charset="0"/>
              <a:cs typeface="Arial" panose="020B0604020202020204" pitchFamily="34" charset="0"/>
            </a:endParaRPr>
          </a:p>
          <a:p>
            <a:pPr algn="ctr"/>
            <a:r>
              <a:rPr lang="en-US" sz="3200" dirty="0">
                <a:latin typeface="Arial" panose="020B0604020202020204" pitchFamily="34" charset="0"/>
                <a:cs typeface="Arial" panose="020B0604020202020204" pitchFamily="34" charset="0"/>
              </a:rPr>
              <a:t>PHYS 365 &amp; 369</a:t>
            </a:r>
          </a:p>
        </p:txBody>
      </p:sp>
    </p:spTree>
    <p:extLst>
      <p:ext uri="{BB962C8B-B14F-4D97-AF65-F5344CB8AC3E}">
        <p14:creationId xmlns:p14="http://schemas.microsoft.com/office/powerpoint/2010/main" val="2373084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Objective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a:lnSpc>
                    <a:spcPct val="150000"/>
                  </a:lnSpc>
                </a:pPr>
                <a:r>
                  <a:rPr lang="en-US" sz="3000" dirty="0">
                    <a:latin typeface="Arial" panose="020B0604020202020204" pitchFamily="34" charset="0"/>
                    <a:cs typeface="Arial" panose="020B0604020202020204" pitchFamily="34" charset="0"/>
                  </a:rPr>
                  <a:t>Observe standing waves</a:t>
                </a:r>
              </a:p>
              <a:p>
                <a:pPr>
                  <a:lnSpc>
                    <a:spcPct val="150000"/>
                  </a:lnSpc>
                </a:pPr>
                <a:r>
                  <a:rPr lang="en-US" sz="3000" dirty="0">
                    <a:latin typeface="Arial" panose="020B0604020202020204" pitchFamily="34" charset="0"/>
                    <a:cs typeface="Arial" panose="020B0604020202020204" pitchFamily="34" charset="0"/>
                  </a:rPr>
                  <a:t>To test the prediction, within experimental uncertainty that:</a:t>
                </a:r>
              </a:p>
              <a:p>
                <a:pPr lvl="1">
                  <a:lnSpc>
                    <a:spcPct val="150000"/>
                  </a:lnSpc>
                </a:pPr>
                <a:r>
                  <a:rPr lang="en-US" sz="2600" dirty="0">
                    <a:latin typeface="Arial" panose="020B0604020202020204" pitchFamily="34" charset="0"/>
                    <a:cs typeface="Arial" panose="020B0604020202020204" pitchFamily="34" charset="0"/>
                  </a:rPr>
                  <a:t>the difference between any </a:t>
                </a:r>
                <a:r>
                  <a:rPr lang="en-US" sz="2600" b="1" dirty="0">
                    <a:latin typeface="Arial" panose="020B0604020202020204" pitchFamily="34" charset="0"/>
                    <a:cs typeface="Arial" panose="020B0604020202020204" pitchFamily="34" charset="0"/>
                  </a:rPr>
                  <a:t>two successive frequencies</a:t>
                </a:r>
                <a:r>
                  <a:rPr lang="en-US" sz="2600" dirty="0">
                    <a:latin typeface="Arial" panose="020B0604020202020204" pitchFamily="34" charset="0"/>
                    <a:cs typeface="Arial" panose="020B0604020202020204" pitchFamily="34" charset="0"/>
                  </a:rPr>
                  <a:t> should be the </a:t>
                </a:r>
                <a:r>
                  <a:rPr lang="en-US" sz="2600" b="1" dirty="0">
                    <a:latin typeface="Arial" panose="020B0604020202020204" pitchFamily="34" charset="0"/>
                    <a:cs typeface="Arial" panose="020B0604020202020204" pitchFamily="34" charset="0"/>
                  </a:rPr>
                  <a:t>same; </a:t>
                </a:r>
                <a14:m>
                  <m:oMath xmlns:m="http://schemas.openxmlformats.org/officeDocument/2006/math">
                    <m:sSub>
                      <m:sSubPr>
                        <m:ctrlPr>
                          <a:rPr lang="en-US" sz="2600" b="1" i="1" smtClean="0">
                            <a:latin typeface="Cambria Math" panose="02040503050406030204" pitchFamily="18" charset="0"/>
                            <a:cs typeface="Arial" panose="020B0604020202020204" pitchFamily="34" charset="0"/>
                          </a:rPr>
                        </m:ctrlPr>
                      </m:sSubPr>
                      <m:e>
                        <m:r>
                          <a:rPr lang="en-US" sz="2600" b="1" i="1" smtClean="0">
                            <a:latin typeface="Cambria Math" panose="02040503050406030204" pitchFamily="18" charset="0"/>
                            <a:cs typeface="Arial" panose="020B0604020202020204" pitchFamily="34" charset="0"/>
                          </a:rPr>
                          <m:t>𝒇</m:t>
                        </m:r>
                      </m:e>
                      <m:sub>
                        <m:r>
                          <a:rPr lang="en-US" sz="2600" b="1" i="1" smtClean="0">
                            <a:latin typeface="Cambria Math" panose="02040503050406030204" pitchFamily="18" charset="0"/>
                            <a:cs typeface="Arial" panose="020B0604020202020204" pitchFamily="34" charset="0"/>
                          </a:rPr>
                          <m:t>𝒏</m:t>
                        </m:r>
                      </m:sub>
                    </m:sSub>
                    <m:r>
                      <a:rPr lang="en-US" sz="2600" b="1" i="1" smtClean="0">
                        <a:latin typeface="Cambria Math" panose="02040503050406030204" pitchFamily="18" charset="0"/>
                        <a:cs typeface="Arial" panose="020B0604020202020204" pitchFamily="34" charset="0"/>
                      </a:rPr>
                      <m:t>=</m:t>
                    </m:r>
                    <m:r>
                      <a:rPr lang="en-US" sz="2600" b="1" i="1" smtClean="0">
                        <a:latin typeface="Cambria Math" panose="02040503050406030204" pitchFamily="18" charset="0"/>
                        <a:cs typeface="Arial" panose="020B0604020202020204" pitchFamily="34" charset="0"/>
                      </a:rPr>
                      <m:t>𝒏</m:t>
                    </m:r>
                    <m:f>
                      <m:fPr>
                        <m:ctrlPr>
                          <a:rPr lang="en-US" sz="2600" b="1" i="1" smtClean="0">
                            <a:latin typeface="Cambria Math" panose="02040503050406030204" pitchFamily="18" charset="0"/>
                            <a:cs typeface="Arial" panose="020B0604020202020204" pitchFamily="34" charset="0"/>
                          </a:rPr>
                        </m:ctrlPr>
                      </m:fPr>
                      <m:num>
                        <m:r>
                          <a:rPr lang="en-US" sz="2600" b="1" i="1" smtClean="0">
                            <a:latin typeface="Cambria Math" panose="02040503050406030204" pitchFamily="18" charset="0"/>
                            <a:cs typeface="Arial" panose="020B0604020202020204" pitchFamily="34" charset="0"/>
                          </a:rPr>
                          <m:t>𝒗</m:t>
                        </m:r>
                      </m:num>
                      <m:den>
                        <m:r>
                          <a:rPr lang="en-US" sz="2600" b="1" i="1" smtClean="0">
                            <a:latin typeface="Cambria Math" panose="02040503050406030204" pitchFamily="18" charset="0"/>
                            <a:cs typeface="Arial" panose="020B0604020202020204" pitchFamily="34" charset="0"/>
                          </a:rPr>
                          <m:t>𝟐</m:t>
                        </m:r>
                        <m:r>
                          <a:rPr lang="en-US" sz="2600" b="1" i="1" smtClean="0">
                            <a:latin typeface="Cambria Math" panose="02040503050406030204" pitchFamily="18" charset="0"/>
                            <a:cs typeface="Arial" panose="020B0604020202020204" pitchFamily="34" charset="0"/>
                          </a:rPr>
                          <m:t>𝑳</m:t>
                        </m:r>
                      </m:den>
                    </m:f>
                  </m:oMath>
                </a14:m>
                <a:endParaRPr lang="en-US" sz="2600" b="1" dirty="0">
                  <a:latin typeface="Arial" panose="020B0604020202020204" pitchFamily="34" charset="0"/>
                  <a:cs typeface="Arial" panose="020B0604020202020204" pitchFamily="34" charset="0"/>
                </a:endParaRPr>
              </a:p>
              <a:p>
                <a:pPr lvl="1">
                  <a:lnSpc>
                    <a:spcPct val="150000"/>
                  </a:lnSpc>
                </a:pPr>
                <a:r>
                  <a:rPr lang="en-US" sz="2600" dirty="0">
                    <a:latin typeface="Arial" panose="020B0604020202020204" pitchFamily="34" charset="0"/>
                    <a:cs typeface="Arial" panose="020B0604020202020204" pitchFamily="34" charset="0"/>
                  </a:rPr>
                  <a:t>The </a:t>
                </a:r>
                <a:r>
                  <a:rPr lang="en-US" sz="2600" b="1" dirty="0">
                    <a:latin typeface="Arial" panose="020B0604020202020204" pitchFamily="34" charset="0"/>
                    <a:cs typeface="Arial" panose="020B0604020202020204" pitchFamily="34" charset="0"/>
                  </a:rPr>
                  <a:t>propagation speed </a:t>
                </a:r>
                <a:r>
                  <a:rPr lang="en-US" sz="2600" dirty="0">
                    <a:latin typeface="Arial" panose="020B0604020202020204" pitchFamily="34" charset="0"/>
                    <a:cs typeface="Arial" panose="020B0604020202020204" pitchFamily="34" charset="0"/>
                  </a:rPr>
                  <a:t>should be proportional to the </a:t>
                </a:r>
                <a:r>
                  <a:rPr lang="en-US" sz="2600" b="1" dirty="0">
                    <a:latin typeface="Arial" panose="020B0604020202020204" pitchFamily="34" charset="0"/>
                    <a:cs typeface="Arial" panose="020B0604020202020204" pitchFamily="34" charset="0"/>
                  </a:rPr>
                  <a:t>square root of the tension force; </a:t>
                </a:r>
                <a14:m>
                  <m:oMath xmlns:m="http://schemas.openxmlformats.org/officeDocument/2006/math">
                    <m:r>
                      <a:rPr lang="en-US" sz="2600" b="1" i="1" smtClean="0">
                        <a:latin typeface="Cambria Math" panose="02040503050406030204" pitchFamily="18" charset="0"/>
                        <a:cs typeface="Arial" panose="020B0604020202020204" pitchFamily="34" charset="0"/>
                      </a:rPr>
                      <m:t>𝒗</m:t>
                    </m:r>
                    <m:r>
                      <a:rPr lang="en-US" sz="2600" b="1" i="1" smtClean="0">
                        <a:latin typeface="Cambria Math" panose="02040503050406030204" pitchFamily="18" charset="0"/>
                        <a:cs typeface="Arial" panose="020B0604020202020204" pitchFamily="34" charset="0"/>
                      </a:rPr>
                      <m:t>=</m:t>
                    </m:r>
                    <m:rad>
                      <m:radPr>
                        <m:degHide m:val="on"/>
                        <m:ctrlPr>
                          <a:rPr lang="en-US" sz="2600" b="1" i="1" smtClean="0">
                            <a:latin typeface="Cambria Math" panose="02040503050406030204" pitchFamily="18" charset="0"/>
                            <a:cs typeface="Arial" panose="020B0604020202020204" pitchFamily="34" charset="0"/>
                          </a:rPr>
                        </m:ctrlPr>
                      </m:radPr>
                      <m:deg/>
                      <m:e>
                        <m:f>
                          <m:fPr>
                            <m:ctrlPr>
                              <a:rPr lang="en-US" sz="2600" b="1" i="1" smtClean="0">
                                <a:latin typeface="Cambria Math" panose="02040503050406030204" pitchFamily="18" charset="0"/>
                                <a:cs typeface="Arial" panose="020B0604020202020204" pitchFamily="34" charset="0"/>
                              </a:rPr>
                            </m:ctrlPr>
                          </m:fPr>
                          <m:num>
                            <m:r>
                              <a:rPr lang="en-US" sz="2600" b="1" i="1" smtClean="0">
                                <a:latin typeface="Cambria Math" panose="02040503050406030204" pitchFamily="18" charset="0"/>
                                <a:cs typeface="Arial" panose="020B0604020202020204" pitchFamily="34" charset="0"/>
                              </a:rPr>
                              <m:t>𝑻</m:t>
                            </m:r>
                          </m:num>
                          <m:den>
                            <m:r>
                              <a:rPr lang="en-US" sz="2600" b="1" i="1" smtClean="0">
                                <a:latin typeface="Cambria Math" panose="02040503050406030204" pitchFamily="18" charset="0"/>
                                <a:ea typeface="Cambria Math" panose="02040503050406030204" pitchFamily="18" charset="0"/>
                                <a:cs typeface="Arial" panose="020B0604020202020204" pitchFamily="34" charset="0"/>
                              </a:rPr>
                              <m:t>𝝁</m:t>
                            </m:r>
                          </m:den>
                        </m:f>
                      </m:e>
                    </m:rad>
                  </m:oMath>
                </a14:m>
                <a:endParaRPr lang="en-US" sz="2600" b="1" dirty="0">
                  <a:latin typeface="Arial" panose="020B0604020202020204" pitchFamily="34" charset="0"/>
                  <a:cs typeface="Arial" panose="020B0604020202020204" pitchFamily="34" charset="0"/>
                </a:endParaRPr>
              </a:p>
              <a:p>
                <a:pPr marL="82296" indent="0">
                  <a:lnSpc>
                    <a:spcPct val="150000"/>
                  </a:lnSpc>
                  <a:buNone/>
                </a:pPr>
                <a:endParaRPr lang="en-US"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22147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1229" y="3628266"/>
            <a:ext cx="5088341" cy="2862192"/>
          </a:xfrm>
          <a:prstGeom prst="rect">
            <a:avLst/>
          </a:prstGeom>
        </p:spPr>
      </p:pic>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Equipment</a:t>
            </a:r>
          </a:p>
        </p:txBody>
      </p:sp>
      <p:sp>
        <p:nvSpPr>
          <p:cNvPr id="3" name="Content Placeholder 2"/>
          <p:cNvSpPr>
            <a:spLocks noGrp="1"/>
          </p:cNvSpPr>
          <p:nvPr>
            <p:ph idx="1"/>
          </p:nvPr>
        </p:nvSpPr>
        <p:spPr>
          <a:xfrm>
            <a:off x="1286256" y="1219200"/>
            <a:ext cx="7289126" cy="2482164"/>
          </a:xfrm>
        </p:spPr>
        <p:txBody>
          <a:bodyPr>
            <a:normAutofit fontScale="85000" lnSpcReduction="20000"/>
          </a:bodyPr>
          <a:lstStyle/>
          <a:p>
            <a:pPr>
              <a:lnSpc>
                <a:spcPct val="150000"/>
              </a:lnSpc>
            </a:pPr>
            <a:r>
              <a:rPr lang="en-US" sz="2500" dirty="0">
                <a:latin typeface="Arial" panose="020B0604020202020204" pitchFamily="34" charset="0"/>
                <a:cs typeface="Arial" panose="020B0604020202020204" pitchFamily="34" charset="0"/>
              </a:rPr>
              <a:t>You can adjust both frequency and amplitude/voltage.</a:t>
            </a:r>
          </a:p>
          <a:p>
            <a:pPr>
              <a:lnSpc>
                <a:spcPct val="150000"/>
              </a:lnSpc>
            </a:pPr>
            <a:r>
              <a:rPr lang="en-US" sz="2500" dirty="0">
                <a:latin typeface="Arial" panose="020B0604020202020204" pitchFamily="34" charset="0"/>
                <a:cs typeface="Arial" panose="020B0604020202020204" pitchFamily="34" charset="0"/>
              </a:rPr>
              <a:t>Move slowly, the system is VERY SENSITIVE and it is easy to quickly scan past the harmonic.</a:t>
            </a:r>
          </a:p>
          <a:p>
            <a:pPr>
              <a:lnSpc>
                <a:spcPct val="150000"/>
              </a:lnSpc>
            </a:pPr>
            <a:r>
              <a:rPr lang="en-US" sz="2500" dirty="0">
                <a:latin typeface="Arial" panose="020B0604020202020204" pitchFamily="34" charset="0"/>
                <a:cs typeface="Arial" panose="020B0604020202020204" pitchFamily="34" charset="0"/>
              </a:rPr>
              <a:t>There are different models (Amplitude or Voltage), if you have questions please ask your TA</a:t>
            </a:r>
          </a:p>
          <a:p>
            <a:pPr marL="82296" indent="0">
              <a:buNone/>
            </a:pPr>
            <a:endParaRPr lang="en-US" sz="2500" dirty="0">
              <a:latin typeface="Arial" panose="020B0604020202020204" pitchFamily="34" charset="0"/>
              <a:cs typeface="Arial" panose="020B0604020202020204" pitchFamily="34" charset="0"/>
            </a:endParaRPr>
          </a:p>
        </p:txBody>
      </p:sp>
      <p:cxnSp>
        <p:nvCxnSpPr>
          <p:cNvPr id="5" name="Straight Arrow Connector 4"/>
          <p:cNvCxnSpPr/>
          <p:nvPr/>
        </p:nvCxnSpPr>
        <p:spPr>
          <a:xfrm>
            <a:off x="2438400" y="4953000"/>
            <a:ext cx="2165118" cy="9716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6629400" y="4267200"/>
            <a:ext cx="1085023" cy="11727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17547" y="4615065"/>
            <a:ext cx="1612392" cy="477054"/>
          </a:xfrm>
          <a:prstGeom prst="rect">
            <a:avLst/>
          </a:prstGeom>
          <a:noFill/>
        </p:spPr>
        <p:txBody>
          <a:bodyPr wrap="square" rtlCol="0">
            <a:spAutoFit/>
          </a:bodyPr>
          <a:lstStyle/>
          <a:p>
            <a:r>
              <a:rPr lang="en-US" sz="2500" i="1" dirty="0">
                <a:solidFill>
                  <a:srgbClr val="FF0000"/>
                </a:solidFill>
              </a:rPr>
              <a:t>frequency</a:t>
            </a:r>
          </a:p>
        </p:txBody>
      </p:sp>
      <p:sp>
        <p:nvSpPr>
          <p:cNvPr id="14" name="TextBox 13"/>
          <p:cNvSpPr txBox="1"/>
          <p:nvPr/>
        </p:nvSpPr>
        <p:spPr>
          <a:xfrm>
            <a:off x="7638044" y="3866346"/>
            <a:ext cx="1612392" cy="477054"/>
          </a:xfrm>
          <a:prstGeom prst="rect">
            <a:avLst/>
          </a:prstGeom>
          <a:noFill/>
        </p:spPr>
        <p:txBody>
          <a:bodyPr wrap="square" rtlCol="0">
            <a:spAutoFit/>
          </a:bodyPr>
          <a:lstStyle/>
          <a:p>
            <a:r>
              <a:rPr lang="en-US" sz="2500" i="1" dirty="0">
                <a:solidFill>
                  <a:srgbClr val="FF0000"/>
                </a:solidFill>
              </a:rPr>
              <a:t>amplitude</a:t>
            </a:r>
          </a:p>
        </p:txBody>
      </p:sp>
    </p:spTree>
    <p:extLst>
      <p:ext uri="{BB962C8B-B14F-4D97-AF65-F5344CB8AC3E}">
        <p14:creationId xmlns:p14="http://schemas.microsoft.com/office/powerpoint/2010/main" val="235204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Tips</a:t>
            </a:r>
          </a:p>
        </p:txBody>
      </p:sp>
      <p:sp>
        <p:nvSpPr>
          <p:cNvPr id="3" name="Content Placeholder 2"/>
          <p:cNvSpPr>
            <a:spLocks noGrp="1"/>
          </p:cNvSpPr>
          <p:nvPr>
            <p:ph idx="1"/>
          </p:nvPr>
        </p:nvSpPr>
        <p:spPr>
          <a:xfrm>
            <a:off x="1286256" y="1366296"/>
            <a:ext cx="7289126" cy="5339304"/>
          </a:xfrm>
        </p:spPr>
        <p:txBody>
          <a:bodyPr>
            <a:normAutofit fontScale="92500" lnSpcReduction="10000"/>
          </a:bodyPr>
          <a:lstStyle/>
          <a:p>
            <a:pPr>
              <a:lnSpc>
                <a:spcPct val="150000"/>
              </a:lnSpc>
            </a:pPr>
            <a:r>
              <a:rPr lang="en-US" sz="2500" dirty="0">
                <a:latin typeface="Arial" panose="020B0604020202020204" pitchFamily="34" charset="0"/>
                <a:cs typeface="Arial" panose="020B0604020202020204" pitchFamily="34" charset="0"/>
              </a:rPr>
              <a:t>Be careful with the amplitude, if the wave is too large it can collide with the magnet and you can lose the wave.</a:t>
            </a:r>
          </a:p>
          <a:p>
            <a:pPr>
              <a:lnSpc>
                <a:spcPct val="150000"/>
              </a:lnSpc>
            </a:pPr>
            <a:r>
              <a:rPr lang="en-US" sz="2500" dirty="0">
                <a:latin typeface="Arial" panose="020B0604020202020204" pitchFamily="34" charset="0"/>
                <a:cs typeface="Arial" panose="020B0604020202020204" pitchFamily="34" charset="0"/>
              </a:rPr>
              <a:t>Scan up slowly, then back down to verify harmonic frequency and uncertainty.</a:t>
            </a:r>
          </a:p>
          <a:p>
            <a:pPr>
              <a:lnSpc>
                <a:spcPct val="150000"/>
              </a:lnSpc>
            </a:pPr>
            <a:r>
              <a:rPr lang="en-US" sz="2500" dirty="0">
                <a:latin typeface="Arial" panose="020B0604020202020204" pitchFamily="34" charset="0"/>
                <a:cs typeface="Arial" panose="020B0604020202020204" pitchFamily="34" charset="0"/>
              </a:rPr>
              <a:t>At the higher frequencies, you may not be able to see the wave, but you should be able to hear it! Listen for when the note gets the loudest to find your frequency.</a:t>
            </a:r>
          </a:p>
          <a:p>
            <a:pPr marL="82296" indent="0">
              <a:buNone/>
            </a:pPr>
            <a:r>
              <a:rPr lang="en-US" sz="25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7966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Linear density of the wire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752600"/>
                <a:ext cx="8019288" cy="4495800"/>
              </a:xfrm>
            </p:spPr>
            <p:txBody>
              <a:bodyPr>
                <a:normAutofit/>
              </a:bodyPr>
              <a:lstStyle/>
              <a:p>
                <a:pPr marL="82296" indent="0" algn="ctr">
                  <a:buNone/>
                </a:pPr>
                <a:r>
                  <a:rPr lang="en-US" sz="4200" dirty="0">
                    <a:solidFill>
                      <a:srgbClr val="FF0000"/>
                    </a:solidFill>
                    <a:latin typeface="Arial" panose="020B0604020202020204" pitchFamily="34" charset="0"/>
                    <a:cs typeface="Arial" panose="020B0604020202020204" pitchFamily="34" charset="0"/>
                  </a:rPr>
                  <a:t>Please note the density of the wire:</a:t>
                </a:r>
              </a:p>
              <a:p>
                <a:pPr algn="ctr">
                  <a:lnSpc>
                    <a:spcPct val="200000"/>
                  </a:lnSpc>
                </a:pPr>
                <a14:m>
                  <m:oMath xmlns:m="http://schemas.openxmlformats.org/officeDocument/2006/math">
                    <m:r>
                      <a:rPr lang="el-GR" sz="4700" i="1" smtClean="0">
                        <a:latin typeface="Cambria Math" panose="02040503050406030204" pitchFamily="18" charset="0"/>
                        <a:ea typeface="Cambria Math" panose="02040503050406030204" pitchFamily="18" charset="0"/>
                        <a:cs typeface="Arial" panose="020B0604020202020204" pitchFamily="34" charset="0"/>
                      </a:rPr>
                      <m:t>𝜇</m:t>
                    </m:r>
                  </m:oMath>
                </a14:m>
                <a:r>
                  <a:rPr lang="en-CA" sz="4700" dirty="0">
                    <a:latin typeface="Arial" panose="020B0604020202020204" pitchFamily="34" charset="0"/>
                    <a:cs typeface="Arial" panose="020B0604020202020204" pitchFamily="34" charset="0"/>
                  </a:rPr>
                  <a:t> = </a:t>
                </a:r>
                <a:r>
                  <a:rPr lang="en-US" sz="4700" dirty="0">
                    <a:latin typeface="Arial" panose="020B0604020202020204" pitchFamily="34" charset="0"/>
                    <a:cs typeface="Arial" panose="020B0604020202020204" pitchFamily="34" charset="0"/>
                  </a:rPr>
                  <a:t>0.58 g/m </a:t>
                </a:r>
              </a:p>
              <a:p>
                <a:pPr algn="ctr">
                  <a:lnSpc>
                    <a:spcPct val="200000"/>
                  </a:lnSpc>
                </a:pPr>
                <a:r>
                  <a:rPr lang="en-US" sz="4700" dirty="0">
                    <a:latin typeface="Arial" panose="020B0604020202020204" pitchFamily="34" charset="0"/>
                    <a:cs typeface="Arial" panose="020B0604020202020204" pitchFamily="34" charset="0"/>
                  </a:rPr>
                  <a:t>u(</a:t>
                </a:r>
                <a14:m>
                  <m:oMath xmlns:m="http://schemas.openxmlformats.org/officeDocument/2006/math">
                    <m:r>
                      <a:rPr lang="el-GR" sz="4700" i="1">
                        <a:latin typeface="Cambria Math" panose="02040503050406030204" pitchFamily="18" charset="0"/>
                        <a:ea typeface="Cambria Math" panose="02040503050406030204" pitchFamily="18" charset="0"/>
                        <a:cs typeface="Arial" panose="020B0604020202020204" pitchFamily="34" charset="0"/>
                      </a:rPr>
                      <m:t>𝜇</m:t>
                    </m:r>
                  </m:oMath>
                </a14:m>
                <a:r>
                  <a:rPr lang="en-CA" sz="4700" dirty="0">
                    <a:latin typeface="Arial" panose="020B0604020202020204" pitchFamily="34" charset="0"/>
                    <a:cs typeface="Arial" panose="020B0604020202020204" pitchFamily="34" charset="0"/>
                  </a:rPr>
                  <a:t>) =</a:t>
                </a:r>
                <a:r>
                  <a:rPr lang="en-US" sz="4700" dirty="0">
                    <a:latin typeface="Arial" panose="020B0604020202020204" pitchFamily="34" charset="0"/>
                    <a:cs typeface="Arial" panose="020B0604020202020204" pitchFamily="34" charset="0"/>
                  </a:rPr>
                  <a:t> 0.01 g/m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752600"/>
                <a:ext cx="8019288" cy="4495800"/>
              </a:xfrm>
              <a:blipFill>
                <a:blip r:embed="rId3"/>
                <a:stretch>
                  <a:fillRect t="-2849" r="-228"/>
                </a:stretch>
              </a:blipFill>
            </p:spPr>
            <p:txBody>
              <a:bodyPr/>
              <a:lstStyle/>
              <a:p>
                <a:r>
                  <a:rPr lang="en-CA">
                    <a:noFill/>
                  </a:rPr>
                  <a:t> </a:t>
                </a:r>
              </a:p>
            </p:txBody>
          </p:sp>
        </mc:Fallback>
      </mc:AlternateContent>
    </p:spTree>
    <p:extLst>
      <p:ext uri="{BB962C8B-B14F-4D97-AF65-F5344CB8AC3E}">
        <p14:creationId xmlns:p14="http://schemas.microsoft.com/office/powerpoint/2010/main" val="524759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Procedure</a:t>
            </a:r>
          </a:p>
        </p:txBody>
      </p:sp>
      <p:sp>
        <p:nvSpPr>
          <p:cNvPr id="3" name="Content Placeholder 2"/>
          <p:cNvSpPr>
            <a:spLocks noGrp="1"/>
          </p:cNvSpPr>
          <p:nvPr>
            <p:ph idx="1"/>
          </p:nvPr>
        </p:nvSpPr>
        <p:spPr>
          <a:xfrm>
            <a:off x="1435608" y="1447800"/>
            <a:ext cx="7632192" cy="4800600"/>
          </a:xfrm>
        </p:spPr>
        <p:txBody>
          <a:bodyPr>
            <a:normAutofit fontScale="77500" lnSpcReduction="20000"/>
          </a:bodyPr>
          <a:lstStyle/>
          <a:p>
            <a:pPr marL="82296" indent="0">
              <a:lnSpc>
                <a:spcPct val="150000"/>
              </a:lnSpc>
              <a:buNone/>
            </a:pPr>
            <a:r>
              <a:rPr lang="en-US" sz="3100" b="1" dirty="0">
                <a:latin typeface="Arial" panose="020B0604020202020204" pitchFamily="34" charset="0"/>
                <a:cs typeface="Arial" panose="020B0604020202020204" pitchFamily="34" charset="0"/>
              </a:rPr>
              <a:t>Part 1:</a:t>
            </a:r>
          </a:p>
          <a:p>
            <a:pPr>
              <a:lnSpc>
                <a:spcPct val="150000"/>
              </a:lnSpc>
            </a:pPr>
            <a:r>
              <a:rPr lang="en-US" sz="3100" dirty="0">
                <a:latin typeface="Arial" panose="020B0604020202020204" pitchFamily="34" charset="0"/>
                <a:cs typeface="Arial" panose="020B0604020202020204" pitchFamily="34" charset="0"/>
              </a:rPr>
              <a:t>Hold the tension constant and vary the harmonic number</a:t>
            </a:r>
          </a:p>
          <a:p>
            <a:pPr>
              <a:lnSpc>
                <a:spcPct val="150000"/>
              </a:lnSpc>
            </a:pPr>
            <a:r>
              <a:rPr lang="en-CA" altLang="en-US" sz="3100" dirty="0">
                <a:latin typeface="Arial" panose="020B0604020202020204" pitchFamily="34" charset="0"/>
                <a:cs typeface="Arial" panose="020B0604020202020204" pitchFamily="34" charset="0"/>
              </a:rPr>
              <a:t>Record the frequency which produces a</a:t>
            </a:r>
          </a:p>
          <a:p>
            <a:pPr>
              <a:lnSpc>
                <a:spcPct val="150000"/>
              </a:lnSpc>
              <a:buNone/>
            </a:pPr>
            <a:r>
              <a:rPr lang="en-CA" altLang="en-US" sz="3100" dirty="0">
                <a:latin typeface="Arial" panose="020B0604020202020204" pitchFamily="34" charset="0"/>
                <a:cs typeface="Arial" panose="020B0604020202020204" pitchFamily="34" charset="0"/>
              </a:rPr>
              <a:t>   </a:t>
            </a:r>
            <a:r>
              <a:rPr lang="en-CA" altLang="en-US" sz="3100" b="1" dirty="0">
                <a:latin typeface="Arial" panose="020B0604020202020204" pitchFamily="34" charset="0"/>
                <a:cs typeface="Arial" panose="020B0604020202020204" pitchFamily="34" charset="0"/>
              </a:rPr>
              <a:t>maximum amplitude </a:t>
            </a:r>
            <a:r>
              <a:rPr lang="en-CA" altLang="en-US" sz="3100" dirty="0">
                <a:latin typeface="Arial" panose="020B0604020202020204" pitchFamily="34" charset="0"/>
                <a:cs typeface="Arial" panose="020B0604020202020204" pitchFamily="34" charset="0"/>
              </a:rPr>
              <a:t>standing wave for each of the modes.</a:t>
            </a:r>
          </a:p>
          <a:p>
            <a:pPr>
              <a:lnSpc>
                <a:spcPct val="150000"/>
              </a:lnSpc>
            </a:pPr>
            <a:r>
              <a:rPr lang="en-CA" altLang="en-US" sz="3100" dirty="0">
                <a:latin typeface="Arial" panose="020B0604020202020204" pitchFamily="34" charset="0"/>
                <a:cs typeface="Arial" panose="020B0604020202020204" pitchFamily="34" charset="0"/>
              </a:rPr>
              <a:t>Estimate the uncertainty in the frequency by adjusting </a:t>
            </a:r>
            <a:r>
              <a:rPr lang="en-CA" altLang="en-US" sz="3100" i="1" dirty="0">
                <a:latin typeface="Arial" panose="020B0604020202020204" pitchFamily="34" charset="0"/>
                <a:cs typeface="Arial" panose="020B0604020202020204" pitchFamily="34" charset="0"/>
              </a:rPr>
              <a:t>f</a:t>
            </a:r>
            <a:r>
              <a:rPr lang="en-CA" altLang="en-US" sz="3100" dirty="0">
                <a:latin typeface="Arial" panose="020B0604020202020204" pitchFamily="34" charset="0"/>
                <a:cs typeface="Arial" panose="020B0604020202020204" pitchFamily="34" charset="0"/>
              </a:rPr>
              <a:t> to reduce the amplitude by 50% ( for the modes you can see, n=1-8)</a:t>
            </a:r>
          </a:p>
          <a:p>
            <a:endParaRPr lang="en-US" dirty="0"/>
          </a:p>
          <a:p>
            <a:endParaRPr lang="en-US" dirty="0"/>
          </a:p>
        </p:txBody>
      </p:sp>
    </p:spTree>
    <p:extLst>
      <p:ext uri="{BB962C8B-B14F-4D97-AF65-F5344CB8AC3E}">
        <p14:creationId xmlns:p14="http://schemas.microsoft.com/office/powerpoint/2010/main" val="4130758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Procedure</a:t>
            </a:r>
          </a:p>
        </p:txBody>
      </p:sp>
      <p:sp>
        <p:nvSpPr>
          <p:cNvPr id="3" name="Content Placeholder 2"/>
          <p:cNvSpPr>
            <a:spLocks noGrp="1"/>
          </p:cNvSpPr>
          <p:nvPr>
            <p:ph idx="1"/>
          </p:nvPr>
        </p:nvSpPr>
        <p:spPr>
          <a:xfrm>
            <a:off x="1435608" y="1447800"/>
            <a:ext cx="7632192" cy="4800600"/>
          </a:xfrm>
        </p:spPr>
        <p:txBody>
          <a:bodyPr>
            <a:normAutofit fontScale="85000" lnSpcReduction="20000"/>
          </a:bodyPr>
          <a:lstStyle/>
          <a:p>
            <a:pPr marL="82296" indent="0">
              <a:lnSpc>
                <a:spcPct val="150000"/>
              </a:lnSpc>
              <a:buNone/>
            </a:pPr>
            <a:r>
              <a:rPr lang="en-US" sz="3100" b="1" dirty="0">
                <a:latin typeface="Arial" panose="020B0604020202020204" pitchFamily="34" charset="0"/>
                <a:cs typeface="Arial" panose="020B0604020202020204" pitchFamily="34" charset="0"/>
              </a:rPr>
              <a:t>Part 2:</a:t>
            </a:r>
          </a:p>
          <a:p>
            <a:pPr>
              <a:lnSpc>
                <a:spcPct val="150000"/>
              </a:lnSpc>
            </a:pPr>
            <a:r>
              <a:rPr lang="en-US" sz="3100" dirty="0">
                <a:latin typeface="Arial" panose="020B0604020202020204" pitchFamily="34" charset="0"/>
                <a:cs typeface="Arial" panose="020B0604020202020204" pitchFamily="34" charset="0"/>
              </a:rPr>
              <a:t>Find the frequency for the fundamental mode (n=1) for various different tension values.</a:t>
            </a:r>
          </a:p>
          <a:p>
            <a:pPr>
              <a:lnSpc>
                <a:spcPct val="150000"/>
              </a:lnSpc>
            </a:pPr>
            <a:r>
              <a:rPr lang="en-CA" altLang="en-US" sz="3100" dirty="0">
                <a:latin typeface="Arial" panose="020B0604020202020204" pitchFamily="34" charset="0"/>
                <a:cs typeface="Arial" panose="020B0604020202020204" pitchFamily="34" charset="0"/>
              </a:rPr>
              <a:t>Record the frequency which produces a</a:t>
            </a:r>
          </a:p>
          <a:p>
            <a:pPr>
              <a:lnSpc>
                <a:spcPct val="150000"/>
              </a:lnSpc>
              <a:buNone/>
            </a:pPr>
            <a:r>
              <a:rPr lang="en-CA" altLang="en-US" sz="3100" dirty="0">
                <a:latin typeface="Arial" panose="020B0604020202020204" pitchFamily="34" charset="0"/>
                <a:cs typeface="Arial" panose="020B0604020202020204" pitchFamily="34" charset="0"/>
              </a:rPr>
              <a:t>   </a:t>
            </a:r>
            <a:r>
              <a:rPr lang="en-CA" altLang="en-US" sz="3100" b="1" dirty="0">
                <a:latin typeface="Arial" panose="020B0604020202020204" pitchFamily="34" charset="0"/>
                <a:cs typeface="Arial" panose="020B0604020202020204" pitchFamily="34" charset="0"/>
              </a:rPr>
              <a:t>maximum amplitude </a:t>
            </a:r>
            <a:r>
              <a:rPr lang="en-CA" altLang="en-US" sz="3100" dirty="0">
                <a:latin typeface="Arial" panose="020B0604020202020204" pitchFamily="34" charset="0"/>
                <a:cs typeface="Arial" panose="020B0604020202020204" pitchFamily="34" charset="0"/>
              </a:rPr>
              <a:t>wave at varying tensions values.</a:t>
            </a:r>
          </a:p>
          <a:p>
            <a:pPr>
              <a:lnSpc>
                <a:spcPct val="150000"/>
              </a:lnSpc>
            </a:pPr>
            <a:r>
              <a:rPr lang="en-CA" altLang="en-US" sz="3100" dirty="0">
                <a:latin typeface="Arial" panose="020B0604020202020204" pitchFamily="34" charset="0"/>
                <a:cs typeface="Arial" panose="020B0604020202020204" pitchFamily="34" charset="0"/>
              </a:rPr>
              <a:t>Again, estimate the uncertainty in the frequency by adjusting </a:t>
            </a:r>
            <a:r>
              <a:rPr lang="en-CA" altLang="en-US" sz="3100" i="1" dirty="0">
                <a:latin typeface="Arial" panose="020B0604020202020204" pitchFamily="34" charset="0"/>
                <a:cs typeface="Arial" panose="020B0604020202020204" pitchFamily="34" charset="0"/>
              </a:rPr>
              <a:t>f</a:t>
            </a:r>
            <a:r>
              <a:rPr lang="en-CA" altLang="en-US" sz="3100" dirty="0">
                <a:latin typeface="Arial" panose="020B0604020202020204" pitchFamily="34" charset="0"/>
                <a:cs typeface="Arial" panose="020B0604020202020204" pitchFamily="34" charset="0"/>
              </a:rPr>
              <a:t> to reduce the amplitude by 50%</a:t>
            </a:r>
          </a:p>
          <a:p>
            <a:pPr>
              <a:lnSpc>
                <a:spcPct val="150000"/>
              </a:lnSpc>
            </a:pPr>
            <a:endParaRPr lang="en-CA" altLang="en-US" sz="3100" dirty="0">
              <a:latin typeface="Arial" panose="020B0604020202020204" pitchFamily="34" charset="0"/>
              <a:cs typeface="Arial" panose="020B0604020202020204" pitchFamily="34" charset="0"/>
            </a:endParaRPr>
          </a:p>
          <a:p>
            <a:pPr marL="82296" indent="0">
              <a:buNone/>
            </a:pPr>
            <a:endParaRPr lang="en-US" dirty="0"/>
          </a:p>
          <a:p>
            <a:endParaRPr lang="en-US" dirty="0"/>
          </a:p>
        </p:txBody>
      </p:sp>
    </p:spTree>
    <p:extLst>
      <p:ext uri="{BB962C8B-B14F-4D97-AF65-F5344CB8AC3E}">
        <p14:creationId xmlns:p14="http://schemas.microsoft.com/office/powerpoint/2010/main" val="2775569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52400"/>
            <a:ext cx="7498080" cy="1066800"/>
          </a:xfrm>
        </p:spPr>
        <p:txBody>
          <a:bodyPr/>
          <a:lstStyle/>
          <a:p>
            <a:r>
              <a:rPr lang="en-US" dirty="0">
                <a:latin typeface="Arial" panose="020B0604020202020204" pitchFamily="34" charset="0"/>
                <a:cs typeface="Arial" panose="020B0604020202020204" pitchFamily="34" charset="0"/>
              </a:rPr>
              <a:t>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35608" y="990600"/>
                <a:ext cx="7498080" cy="5592762"/>
              </a:xfrm>
            </p:spPr>
            <p:txBody>
              <a:bodyPr>
                <a:normAutofit fontScale="85000" lnSpcReduction="10000"/>
              </a:bodyPr>
              <a:lstStyle/>
              <a:p>
                <a:pPr marL="82296" indent="0">
                  <a:lnSpc>
                    <a:spcPct val="150000"/>
                  </a:lnSpc>
                  <a:buNone/>
                </a:pPr>
                <a:r>
                  <a:rPr lang="en-US" b="1" dirty="0">
                    <a:latin typeface="Arial" panose="020B0604020202020204" pitchFamily="34" charset="0"/>
                    <a:cs typeface="Arial" panose="020B0604020202020204" pitchFamily="34" charset="0"/>
                  </a:rPr>
                  <a:t>Part 1: </a:t>
                </a:r>
              </a:p>
              <a:p>
                <a:pPr>
                  <a:lnSpc>
                    <a:spcPct val="150000"/>
                  </a:lnSpc>
                </a:pPr>
                <a:r>
                  <a:rPr lang="en-US" dirty="0">
                    <a:latin typeface="Arial" panose="020B0604020202020204" pitchFamily="34" charset="0"/>
                    <a:cs typeface="Arial" panose="020B0604020202020204" pitchFamily="34" charset="0"/>
                  </a:rPr>
                  <a:t>Calculate </a:t>
                </a:r>
                <a:r>
                  <a:rPr lang="en-US" i="1"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for n=1-12</a:t>
                </a:r>
              </a:p>
              <a:p>
                <a:pPr lvl="2">
                  <a:lnSpc>
                    <a:spcPct val="150000"/>
                  </a:lnSpc>
                </a:pPr>
                <a:r>
                  <a:rPr lang="en-US" dirty="0">
                    <a:latin typeface="Arial" panose="020B0604020202020204" pitchFamily="34" charset="0"/>
                    <a:cs typeface="Arial" panose="020B0604020202020204" pitchFamily="34" charset="0"/>
                  </a:rPr>
                  <a:t>use the value of </a:t>
                </a:r>
                <a:r>
                  <a:rPr lang="en-US" i="1" dirty="0">
                    <a:latin typeface="Arial" panose="020B0604020202020204" pitchFamily="34" charset="0"/>
                    <a:cs typeface="Arial" panose="020B0604020202020204" pitchFamily="34" charset="0"/>
                  </a:rPr>
                  <a:t>T </a:t>
                </a:r>
                <a:r>
                  <a:rPr lang="en-US" dirty="0">
                    <a:latin typeface="Arial" panose="020B0604020202020204" pitchFamily="34" charset="0"/>
                    <a:cs typeface="Arial" panose="020B0604020202020204" pitchFamily="34" charset="0"/>
                  </a:rPr>
                  <a:t>and </a:t>
                </a:r>
                <a:r>
                  <a:rPr lang="el-GR" i="1"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 to find the speed according to:</a:t>
                </a:r>
                <a14:m>
                  <m:oMath xmlns:m="http://schemas.openxmlformats.org/officeDocument/2006/math">
                    <m:r>
                      <a:rPr lang="en-CA"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𝑛𝑣</m:t>
                        </m:r>
                      </m:num>
                      <m:den>
                        <m:r>
                          <a:rPr lang="en-US" b="0" i="1" smtClean="0">
                            <a:latin typeface="Cambria Math" panose="02040503050406030204" pitchFamily="18" charset="0"/>
                          </a:rPr>
                          <m:t>2</m:t>
                        </m:r>
                        <m:r>
                          <a:rPr lang="en-US" b="0" i="1" smtClean="0">
                            <a:latin typeface="Cambria Math" panose="02040503050406030204" pitchFamily="18" charset="0"/>
                          </a:rPr>
                          <m:t>𝐿</m:t>
                        </m:r>
                      </m:den>
                    </m:f>
                  </m:oMath>
                </a14:m>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Plot the graph of the experimental </a:t>
                </a:r>
                <a:r>
                  <a:rPr lang="en-US" i="1" dirty="0" err="1">
                    <a:latin typeface="Arial" panose="020B0604020202020204" pitchFamily="34" charset="0"/>
                    <a:cs typeface="Arial" panose="020B0604020202020204" pitchFamily="34" charset="0"/>
                  </a:rPr>
                  <a:t>f</a:t>
                </a:r>
                <a:r>
                  <a:rPr lang="en-US" sz="1800" i="1" dirty="0" err="1">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vs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with error bars (</a:t>
                </a:r>
                <a:r>
                  <a:rPr lang="en-US" dirty="0"/>
                  <a:t>use the Excel Line fitting template, </a:t>
                </a:r>
                <a:r>
                  <a:rPr lang="en-US" dirty="0">
                    <a:latin typeface="Arial" panose="020B0604020202020204" pitchFamily="34" charset="0"/>
                    <a:cs typeface="Arial" panose="020B0604020202020204" pitchFamily="34" charset="0"/>
                  </a:rPr>
                  <a:t>use data points with uncertainties)</a:t>
                </a:r>
              </a:p>
              <a:p>
                <a:pPr>
                  <a:lnSpc>
                    <a:spcPct val="150000"/>
                  </a:lnSpc>
                </a:pPr>
                <a:r>
                  <a:rPr lang="en-US" dirty="0">
                    <a:latin typeface="Arial" panose="020B0604020202020204" pitchFamily="34" charset="0"/>
                    <a:cs typeface="Arial" panose="020B0604020202020204" pitchFamily="34" charset="0"/>
                  </a:rPr>
                  <a:t>Find the </a:t>
                </a:r>
                <a:r>
                  <a:rPr lang="en-US" b="1" dirty="0">
                    <a:latin typeface="Arial" panose="020B0604020202020204" pitchFamily="34" charset="0"/>
                    <a:cs typeface="Arial" panose="020B0604020202020204" pitchFamily="34" charset="0"/>
                  </a:rPr>
                  <a:t>slope</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intercept</a:t>
                </a:r>
                <a:r>
                  <a:rPr lang="en-US" dirty="0">
                    <a:latin typeface="Arial" panose="020B0604020202020204" pitchFamily="34" charset="0"/>
                    <a:cs typeface="Arial" panose="020B0604020202020204" pitchFamily="34" charset="0"/>
                  </a:rPr>
                  <a:t> with uncertainties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35608" y="990600"/>
                <a:ext cx="7498080" cy="5592762"/>
              </a:xfrm>
              <a:blipFill>
                <a:blip r:embed="rId3"/>
                <a:stretch>
                  <a:fillRect l="-407" r="-1626"/>
                </a:stretch>
              </a:blipFill>
            </p:spPr>
            <p:txBody>
              <a:bodyPr/>
              <a:lstStyle/>
              <a:p>
                <a:r>
                  <a:rPr lang="en-US">
                    <a:noFill/>
                  </a:rPr>
                  <a:t> </a:t>
                </a:r>
              </a:p>
            </p:txBody>
          </p:sp>
        </mc:Fallback>
      </mc:AlternateContent>
    </p:spTree>
    <p:extLst>
      <p:ext uri="{BB962C8B-B14F-4D97-AF65-F5344CB8AC3E}">
        <p14:creationId xmlns:p14="http://schemas.microsoft.com/office/powerpoint/2010/main" val="3530758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35608" y="1524000"/>
                <a:ext cx="7498080" cy="4724400"/>
              </a:xfrm>
            </p:spPr>
            <p:txBody>
              <a:bodyPr>
                <a:normAutofit fontScale="92500" lnSpcReduction="20000"/>
              </a:bodyPr>
              <a:lstStyle/>
              <a:p>
                <a:pPr marL="82296" indent="0">
                  <a:lnSpc>
                    <a:spcPct val="150000"/>
                  </a:lnSpc>
                  <a:buNone/>
                </a:pPr>
                <a:r>
                  <a:rPr lang="en-US" b="1" dirty="0">
                    <a:latin typeface="Arial" panose="020B0604020202020204" pitchFamily="34" charset="0"/>
                    <a:cs typeface="Arial" panose="020B0604020202020204" pitchFamily="34" charset="0"/>
                  </a:rPr>
                  <a:t>Part 2:</a:t>
                </a:r>
              </a:p>
              <a:p>
                <a:pPr>
                  <a:lnSpc>
                    <a:spcPct val="150000"/>
                  </a:lnSpc>
                </a:pPr>
                <a:r>
                  <a:rPr lang="en-US" dirty="0">
                    <a:latin typeface="Arial" panose="020B0604020202020204" pitchFamily="34" charset="0"/>
                    <a:cs typeface="Arial" panose="020B0604020202020204" pitchFamily="34" charset="0"/>
                  </a:rPr>
                  <a:t>Vary the tension on the wire and find the fundamental frequency </a:t>
                </a:r>
              </a:p>
              <a:p>
                <a:pPr>
                  <a:lnSpc>
                    <a:spcPct val="150000"/>
                  </a:lnSpc>
                </a:pPr>
                <a:r>
                  <a:rPr lang="en-US" dirty="0">
                    <a:latin typeface="Arial" panose="020B0604020202020204" pitchFamily="34" charset="0"/>
                    <a:cs typeface="Arial" panose="020B0604020202020204" pitchFamily="34" charset="0"/>
                  </a:rPr>
                  <a:t>Plot ln(</a:t>
                </a:r>
                <a:r>
                  <a:rPr lang="en-US" i="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vs. ln(</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with error bars</a:t>
                </a:r>
              </a:p>
              <a:p>
                <a:pPr lvl="1">
                  <a:lnSpc>
                    <a:spcPct val="150000"/>
                  </a:lnSpc>
                </a:pPr>
                <a:r>
                  <a:rPr lang="en-US" dirty="0">
                    <a:latin typeface="Arial" panose="020B0604020202020204" pitchFamily="34" charset="0"/>
                    <a:cs typeface="Arial" panose="020B0604020202020204" pitchFamily="34" charset="0"/>
                  </a:rPr>
                  <a:t>Use </a:t>
                </a:r>
                <a14:m>
                  <m:oMath xmlns:m="http://schemas.openxmlformats.org/officeDocument/2006/math">
                    <m:r>
                      <a:rPr lang="en-US" b="0" i="1" smtClean="0">
                        <a:latin typeface="Cambria Math" panose="02040503050406030204" pitchFamily="18" charset="0"/>
                        <a:cs typeface="Arial" panose="020B0604020202020204" pitchFamily="34" charset="0"/>
                      </a:rPr>
                      <m:t>𝑣</m:t>
                    </m:r>
                    <m:r>
                      <a:rPr lang="en-US" b="0" i="1" smtClean="0">
                        <a:latin typeface="Cambria Math" panose="02040503050406030204" pitchFamily="18" charset="0"/>
                        <a:cs typeface="Arial" panose="020B0604020202020204" pitchFamily="34" charset="0"/>
                      </a:rPr>
                      <m:t>=2</m:t>
                    </m:r>
                    <m:r>
                      <a:rPr lang="en-US" b="0" i="1" smtClean="0">
                        <a:latin typeface="Cambria Math" panose="02040503050406030204" pitchFamily="18" charset="0"/>
                        <a:cs typeface="Arial" panose="020B0604020202020204" pitchFamily="34" charset="0"/>
                      </a:rPr>
                      <m:t>𝑛𝐿</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𝑓</m:t>
                        </m:r>
                      </m:e>
                      <m:sub>
                        <m:r>
                          <a:rPr lang="en-US" b="0" i="1" smtClean="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for the velocity</a:t>
                </a:r>
              </a:p>
              <a:p>
                <a:pPr>
                  <a:lnSpc>
                    <a:spcPct val="150000"/>
                  </a:lnSpc>
                </a:pPr>
                <a:r>
                  <a:rPr lang="en-US" dirty="0">
                    <a:latin typeface="Arial" panose="020B0604020202020204" pitchFamily="34" charset="0"/>
                    <a:cs typeface="Arial" panose="020B0604020202020204" pitchFamily="34" charset="0"/>
                  </a:rPr>
                  <a:t>Find the </a:t>
                </a:r>
                <a:r>
                  <a:rPr lang="en-US" b="1" dirty="0">
                    <a:latin typeface="Arial" panose="020B0604020202020204" pitchFamily="34" charset="0"/>
                    <a:cs typeface="Arial" panose="020B0604020202020204" pitchFamily="34" charset="0"/>
                  </a:rPr>
                  <a:t>slope</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intercept</a:t>
                </a:r>
                <a:r>
                  <a:rPr lang="en-US" dirty="0">
                    <a:latin typeface="Arial" panose="020B0604020202020204" pitchFamily="34" charset="0"/>
                    <a:cs typeface="Arial" panose="020B0604020202020204" pitchFamily="34" charset="0"/>
                  </a:rPr>
                  <a:t> with uncertainties</a:t>
                </a:r>
              </a:p>
              <a:p>
                <a:pPr>
                  <a:lnSpc>
                    <a:spcPct val="150000"/>
                  </a:lnSpc>
                </a:pPr>
                <a:endParaRPr lang="en-US"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35608" y="1524000"/>
                <a:ext cx="7498080" cy="4724400"/>
              </a:xfrm>
              <a:blipFill>
                <a:blip r:embed="rId2"/>
                <a:stretch>
                  <a:fillRect l="-813" t="-129" r="-1057"/>
                </a:stretch>
              </a:blipFill>
            </p:spPr>
            <p:txBody>
              <a:bodyPr/>
              <a:lstStyle/>
              <a:p>
                <a:r>
                  <a:rPr lang="en-US">
                    <a:noFill/>
                  </a:rPr>
                  <a:t> </a:t>
                </a:r>
              </a:p>
            </p:txBody>
          </p:sp>
        </mc:Fallback>
      </mc:AlternateContent>
    </p:spTree>
    <p:extLst>
      <p:ext uri="{BB962C8B-B14F-4D97-AF65-F5344CB8AC3E}">
        <p14:creationId xmlns:p14="http://schemas.microsoft.com/office/powerpoint/2010/main" val="161487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Discussion</a:t>
            </a:r>
          </a:p>
        </p:txBody>
      </p:sp>
      <p:sp>
        <p:nvSpPr>
          <p:cNvPr id="3" name="Content Placeholder 2"/>
          <p:cNvSpPr>
            <a:spLocks noGrp="1"/>
          </p:cNvSpPr>
          <p:nvPr>
            <p:ph idx="1"/>
          </p:nvPr>
        </p:nvSpPr>
        <p:spPr>
          <a:xfrm>
            <a:off x="1435608" y="1447800"/>
            <a:ext cx="7555992" cy="4800600"/>
          </a:xfrm>
        </p:spPr>
        <p:txBody>
          <a:bodyPr>
            <a:normAutofit fontScale="92500" lnSpcReduction="20000"/>
          </a:bodyPr>
          <a:lstStyle/>
          <a:p>
            <a:pPr marL="82296" indent="0">
              <a:lnSpc>
                <a:spcPct val="150000"/>
              </a:lnSpc>
              <a:buNone/>
            </a:pPr>
            <a:r>
              <a:rPr lang="en-US" b="1" dirty="0">
                <a:latin typeface="Arial" panose="020B0604020202020204" pitchFamily="34" charset="0"/>
                <a:cs typeface="Arial" panose="020B0604020202020204" pitchFamily="34" charset="0"/>
              </a:rPr>
              <a:t>Part 1: </a:t>
            </a:r>
          </a:p>
          <a:p>
            <a:pPr>
              <a:lnSpc>
                <a:spcPct val="150000"/>
              </a:lnSpc>
            </a:pPr>
            <a:r>
              <a:rPr lang="en-US" sz="2800" dirty="0">
                <a:latin typeface="Arial" panose="020B0604020202020204" pitchFamily="34" charset="0"/>
                <a:cs typeface="Arial" panose="020B0604020202020204" pitchFamily="34" charset="0"/>
              </a:rPr>
              <a:t>Compare the value of slope with the calculated value</a:t>
            </a:r>
          </a:p>
          <a:p>
            <a:pPr marL="82296" indent="0">
              <a:lnSpc>
                <a:spcPct val="150000"/>
              </a:lnSpc>
              <a:buNone/>
            </a:pPr>
            <a:r>
              <a:rPr lang="en-US" b="1" dirty="0">
                <a:latin typeface="Arial" panose="020B0604020202020204" pitchFamily="34" charset="0"/>
                <a:cs typeface="Arial" panose="020B0604020202020204" pitchFamily="34" charset="0"/>
              </a:rPr>
              <a:t>Part 2:</a:t>
            </a:r>
          </a:p>
          <a:p>
            <a:pPr>
              <a:lnSpc>
                <a:spcPct val="150000"/>
              </a:lnSpc>
            </a:pPr>
            <a:r>
              <a:rPr lang="en-US" sz="2600" dirty="0">
                <a:latin typeface="Arial" panose="020B0604020202020204" pitchFamily="34" charset="0"/>
                <a:cs typeface="Arial" panose="020B0604020202020204" pitchFamily="34" charset="0"/>
              </a:rPr>
              <a:t>Compare the value of the slope with </a:t>
            </a:r>
            <a:r>
              <a:rPr lang="en-US" sz="2600" b="1" dirty="0">
                <a:latin typeface="Arial" panose="020B0604020202020204" pitchFamily="34" charset="0"/>
                <a:cs typeface="Arial" panose="020B0604020202020204" pitchFamily="34" charset="0"/>
              </a:rPr>
              <a:t>0.5</a:t>
            </a:r>
            <a:r>
              <a:rPr lang="en-US" sz="2600" dirty="0">
                <a:latin typeface="Arial" panose="020B0604020202020204" pitchFamily="34" charset="0"/>
                <a:cs typeface="Arial" panose="020B0604020202020204" pitchFamily="34" charset="0"/>
              </a:rPr>
              <a:t> (the number has no uncertainty)</a:t>
            </a:r>
          </a:p>
          <a:p>
            <a:pPr>
              <a:lnSpc>
                <a:spcPct val="150000"/>
              </a:lnSpc>
            </a:pPr>
            <a:r>
              <a:rPr lang="en-US" sz="2600" dirty="0">
                <a:latin typeface="Arial" panose="020B0604020202020204" pitchFamily="34" charset="0"/>
                <a:cs typeface="Arial" panose="020B0604020202020204" pitchFamily="34" charset="0"/>
              </a:rPr>
              <a:t>Compare the value of the intercept with </a:t>
            </a:r>
            <a:r>
              <a:rPr lang="en-US" sz="2600" b="1" dirty="0">
                <a:latin typeface="Arial" panose="020B0604020202020204" pitchFamily="34" charset="0"/>
                <a:cs typeface="Arial" panose="020B0604020202020204" pitchFamily="34" charset="0"/>
              </a:rPr>
              <a:t>–0.5ln(</a:t>
            </a:r>
            <a:r>
              <a:rPr lang="el-GR" sz="2600" b="1" dirty="0">
                <a:latin typeface="Arial" panose="020B0604020202020204" pitchFamily="34" charset="0"/>
                <a:cs typeface="Arial" panose="020B0604020202020204" pitchFamily="34" charset="0"/>
              </a:rPr>
              <a:t>μ</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with its estimated uncertainty</a:t>
            </a:r>
          </a:p>
        </p:txBody>
      </p:sp>
    </p:spTree>
    <p:extLst>
      <p:ext uri="{BB962C8B-B14F-4D97-AF65-F5344CB8AC3E}">
        <p14:creationId xmlns:p14="http://schemas.microsoft.com/office/powerpoint/2010/main" val="1207247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Before you leave</a:t>
            </a:r>
          </a:p>
        </p:txBody>
      </p:sp>
      <p:sp>
        <p:nvSpPr>
          <p:cNvPr id="3" name="Content Placeholder 2"/>
          <p:cNvSpPr>
            <a:spLocks noGrp="1"/>
          </p:cNvSpPr>
          <p:nvPr>
            <p:ph idx="1"/>
          </p:nvPr>
        </p:nvSpPr>
        <p:spPr>
          <a:xfrm>
            <a:off x="1435608" y="1447800"/>
            <a:ext cx="7498080" cy="5029200"/>
          </a:xfrm>
        </p:spPr>
        <p:txBody>
          <a:bodyPr/>
          <a:lstStyle/>
          <a:p>
            <a:pPr>
              <a:lnSpc>
                <a:spcPct val="150000"/>
              </a:lnSpc>
            </a:pPr>
            <a:r>
              <a:rPr lang="en-US" dirty="0">
                <a:latin typeface="Arial" panose="020B0604020202020204" pitchFamily="34" charset="0"/>
                <a:cs typeface="Arial" panose="020B0604020202020204" pitchFamily="34" charset="0"/>
              </a:rPr>
              <a:t>Have a graph for </a:t>
            </a:r>
            <a:r>
              <a:rPr lang="en-US" b="1" dirty="0">
                <a:latin typeface="Arial" panose="020B0604020202020204" pitchFamily="34" charset="0"/>
                <a:cs typeface="Arial" panose="020B0604020202020204" pitchFamily="34" charset="0"/>
              </a:rPr>
              <a:t>Part 1 </a:t>
            </a:r>
            <a:r>
              <a:rPr lang="en-US" dirty="0">
                <a:latin typeface="Arial" panose="020B0604020202020204" pitchFamily="34" charset="0"/>
                <a:cs typeface="Arial" panose="020B0604020202020204" pitchFamily="34" charset="0"/>
              </a:rPr>
              <a:t>plotted </a:t>
            </a:r>
          </a:p>
          <a:p>
            <a:pPr>
              <a:lnSpc>
                <a:spcPct val="150000"/>
              </a:lnSpc>
            </a:pPr>
            <a:r>
              <a:rPr lang="en-US" dirty="0">
                <a:latin typeface="Arial" panose="020B0604020202020204" pitchFamily="34" charset="0"/>
                <a:cs typeface="Arial" panose="020B0604020202020204" pitchFamily="34" charset="0"/>
              </a:rPr>
              <a:t>Ideally, finish both graphs</a:t>
            </a:r>
          </a:p>
          <a:p>
            <a:pPr>
              <a:lnSpc>
                <a:spcPct val="150000"/>
              </a:lnSpc>
            </a:pPr>
            <a:r>
              <a:rPr lang="en-US" dirty="0">
                <a:latin typeface="Arial" panose="020B0604020202020204" pitchFamily="34" charset="0"/>
                <a:cs typeface="Arial" panose="020B0604020202020204" pitchFamily="34" charset="0"/>
              </a:rPr>
              <a:t>Make sure you know how the </a:t>
            </a:r>
            <a:r>
              <a:rPr lang="en-US" b="1" dirty="0">
                <a:latin typeface="Arial" panose="020B0604020202020204" pitchFamily="34" charset="0"/>
                <a:cs typeface="Arial" panose="020B0604020202020204" pitchFamily="34" charset="0"/>
              </a:rPr>
              <a:t>uncertainties</a:t>
            </a:r>
            <a:r>
              <a:rPr lang="en-US" dirty="0">
                <a:latin typeface="Arial" panose="020B0604020202020204" pitchFamily="34" charset="0"/>
                <a:cs typeface="Arial" panose="020B0604020202020204" pitchFamily="34" charset="0"/>
              </a:rPr>
              <a:t> are calculated for this lab report</a:t>
            </a:r>
          </a:p>
          <a:p>
            <a:pPr marL="82296" indent="0">
              <a:lnSpc>
                <a:spcPct val="150000"/>
              </a:lnSpc>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800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Laboratory report</a:t>
            </a:r>
          </a:p>
        </p:txBody>
      </p:sp>
      <p:sp>
        <p:nvSpPr>
          <p:cNvPr id="3" name="Content Placeholder 2"/>
          <p:cNvSpPr>
            <a:spLocks noGrp="1"/>
          </p:cNvSpPr>
          <p:nvPr>
            <p:ph idx="1"/>
          </p:nvPr>
        </p:nvSpPr>
        <p:spPr/>
        <p:txBody>
          <a:bodyPr>
            <a:normAutofit fontScale="62500" lnSpcReduction="20000"/>
          </a:bodyPr>
          <a:lstStyle/>
          <a:p>
            <a:pPr>
              <a:lnSpc>
                <a:spcPct val="160000"/>
              </a:lnSpc>
            </a:pPr>
            <a:r>
              <a:rPr lang="en-US" dirty="0">
                <a:latin typeface="Arial" panose="020B0604020202020204" pitchFamily="34" charset="0"/>
                <a:cs typeface="Arial" panose="020B0604020202020204" pitchFamily="34" charset="0"/>
              </a:rPr>
              <a:t>Title of experiment, date, partners’ names,  TA’s name, lab section, group number</a:t>
            </a:r>
          </a:p>
          <a:p>
            <a:pPr>
              <a:lnSpc>
                <a:spcPct val="160000"/>
              </a:lnSpc>
            </a:pPr>
            <a:r>
              <a:rPr lang="en-US" dirty="0">
                <a:latin typeface="Arial" panose="020B0604020202020204" pitchFamily="34" charset="0"/>
                <a:cs typeface="Arial" panose="020B0604020202020204" pitchFamily="34" charset="0"/>
              </a:rPr>
              <a:t>Objective</a:t>
            </a:r>
          </a:p>
          <a:p>
            <a:pPr>
              <a:lnSpc>
                <a:spcPct val="160000"/>
              </a:lnSpc>
            </a:pPr>
            <a:r>
              <a:rPr lang="en-US" dirty="0">
                <a:latin typeface="Arial" panose="020B0604020202020204" pitchFamily="34" charset="0"/>
                <a:cs typeface="Arial" panose="020B0604020202020204" pitchFamily="34" charset="0"/>
              </a:rPr>
              <a:t>Theory (brief with equations)</a:t>
            </a:r>
          </a:p>
          <a:p>
            <a:pPr>
              <a:lnSpc>
                <a:spcPct val="160000"/>
              </a:lnSpc>
            </a:pPr>
            <a:r>
              <a:rPr lang="en-US" dirty="0">
                <a:latin typeface="Arial" panose="020B0604020202020204" pitchFamily="34" charset="0"/>
                <a:cs typeface="Arial" panose="020B0604020202020204" pitchFamily="34" charset="0"/>
              </a:rPr>
              <a:t>Method </a:t>
            </a:r>
          </a:p>
          <a:p>
            <a:pPr>
              <a:lnSpc>
                <a:spcPct val="160000"/>
              </a:lnSpc>
            </a:pPr>
            <a:r>
              <a:rPr lang="en-US" dirty="0">
                <a:latin typeface="Arial" panose="020B0604020202020204" pitchFamily="34" charset="0"/>
                <a:cs typeface="Arial" panose="020B0604020202020204" pitchFamily="34" charset="0"/>
              </a:rPr>
              <a:t>Data (Tables)</a:t>
            </a:r>
          </a:p>
          <a:p>
            <a:pPr>
              <a:lnSpc>
                <a:spcPct val="160000"/>
              </a:lnSpc>
            </a:pPr>
            <a:r>
              <a:rPr lang="en-US" dirty="0">
                <a:latin typeface="Arial" panose="020B0604020202020204" pitchFamily="34" charset="0"/>
                <a:cs typeface="Arial" panose="020B0604020202020204" pitchFamily="34" charset="0"/>
              </a:rPr>
              <a:t>Analysis (Graphs)</a:t>
            </a:r>
          </a:p>
          <a:p>
            <a:pPr>
              <a:lnSpc>
                <a:spcPct val="160000"/>
              </a:lnSpc>
            </a:pPr>
            <a:r>
              <a:rPr lang="en-US" dirty="0">
                <a:latin typeface="Arial" panose="020B0604020202020204" pitchFamily="34" charset="0"/>
                <a:cs typeface="Arial" panose="020B0604020202020204" pitchFamily="34" charset="0"/>
              </a:rPr>
              <a:t>Discussion</a:t>
            </a:r>
          </a:p>
          <a:p>
            <a:pPr>
              <a:lnSpc>
                <a:spcPct val="160000"/>
              </a:lnSpc>
            </a:pPr>
            <a:r>
              <a:rPr lang="en-US" dirty="0">
                <a:latin typeface="Arial" panose="020B0604020202020204" pitchFamily="34" charset="0"/>
                <a:cs typeface="Arial" panose="020B0604020202020204" pitchFamily="34" charset="0"/>
              </a:rPr>
              <a:t>Conclusions</a:t>
            </a:r>
          </a:p>
        </p:txBody>
      </p:sp>
    </p:spTree>
    <p:extLst>
      <p:ext uri="{BB962C8B-B14F-4D97-AF65-F5344CB8AC3E}">
        <p14:creationId xmlns:p14="http://schemas.microsoft.com/office/powerpoint/2010/main" val="26468578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6338</TotalTime>
  <Words>668</Words>
  <Application>Microsoft Macintosh PowerPoint</Application>
  <PresentationFormat>On-screen Show (4:3)</PresentationFormat>
  <Paragraphs>82</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 Math</vt:lpstr>
      <vt:lpstr>Gill Sans MT</vt:lpstr>
      <vt:lpstr>Verdana</vt:lpstr>
      <vt:lpstr>Wingdings 2</vt:lpstr>
      <vt:lpstr>Solstice</vt:lpstr>
      <vt:lpstr>PowerPoint Presentation</vt:lpstr>
      <vt:lpstr>Objective</vt:lpstr>
      <vt:lpstr>Equipment</vt:lpstr>
      <vt:lpstr>Tips</vt:lpstr>
      <vt:lpstr>Linear density of the wire</vt:lpstr>
      <vt:lpstr>Procedure</vt:lpstr>
      <vt:lpstr>Procedure</vt:lpstr>
      <vt:lpstr>Analysis</vt:lpstr>
      <vt:lpstr>Analysis</vt:lpstr>
      <vt:lpstr>Discussion</vt:lpstr>
      <vt:lpstr>Before you leave</vt:lpstr>
      <vt:lpstr>Laboratory report</vt:lpstr>
    </vt:vector>
  </TitlesOfParts>
  <Company>University of Manitoba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Laboratory report</dc:title>
  <dc:creator>Marzena</dc:creator>
  <cp:lastModifiedBy>Shahpoor Moradi</cp:lastModifiedBy>
  <cp:revision>104</cp:revision>
  <dcterms:created xsi:type="dcterms:W3CDTF">2014-01-08T19:20:15Z</dcterms:created>
  <dcterms:modified xsi:type="dcterms:W3CDTF">2022-08-29T23:20:03Z</dcterms:modified>
</cp:coreProperties>
</file>