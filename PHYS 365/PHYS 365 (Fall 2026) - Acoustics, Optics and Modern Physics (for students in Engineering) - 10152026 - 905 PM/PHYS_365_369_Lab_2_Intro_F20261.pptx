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8" r:id="rId2"/>
    <p:sldId id="309" r:id="rId3"/>
    <p:sldId id="278" r:id="rId4"/>
    <p:sldId id="301" r:id="rId5"/>
    <p:sldId id="303" r:id="rId6"/>
    <p:sldId id="307" r:id="rId7"/>
    <p:sldId id="296" r:id="rId8"/>
    <p:sldId id="297" r:id="rId9"/>
    <p:sldId id="298" r:id="rId10"/>
    <p:sldId id="300" r:id="rId11"/>
    <p:sldId id="302" r:id="rId12"/>
    <p:sldId id="308" r:id="rId13"/>
    <p:sldId id="304" r:id="rId14"/>
    <p:sldId id="310" r:id="rId15"/>
    <p:sldId id="287" r:id="rId16"/>
    <p:sldId id="305" r:id="rId17"/>
    <p:sldId id="306" r:id="rId18"/>
    <p:sldId id="292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96"/>
    <p:restoredTop sz="87483"/>
  </p:normalViewPr>
  <p:slideViewPr>
    <p:cSldViewPr>
      <p:cViewPr varScale="1">
        <p:scale>
          <a:sx n="111" d="100"/>
          <a:sy n="111" d="100"/>
        </p:scale>
        <p:origin x="2272" y="20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2E8FF5-3986-4619-ADB6-264CAEACF998}" type="datetimeFigureOut">
              <a:rPr lang="en-US" smtClean="0"/>
              <a:t>9/18/25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99528E-D9AF-4DA1-ACF9-4D645755B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11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How: turn on air pump</a:t>
            </a:r>
            <a:r>
              <a:rPr lang="en-US" dirty="0">
                <a:sym typeface="Wingdings" pitchFamily="2" charset="2"/>
              </a:rPr>
              <a:t> put the glider on the air track, if not leveled, due to gravity, the glider will move towards one end; if it’s leveled, the glider will not move and in the vertical direction the gravity of the glider equals to the reaction force from the air track;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99528E-D9AF-4DA1-ACF9-4D645755BA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5983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 them A (zero offset),B (amplitude), C (angular frequency), D(initial phase) if needed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9528E-D9AF-4DA1-ACF9-4D645755BA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8468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 them A (zero offset),B (amplitude), C (angular frequency), D(initial phase) if needed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9528E-D9AF-4DA1-ACF9-4D645755BA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6033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 x and y axis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9528E-D9AF-4DA1-ACF9-4D645755BA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096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Standard deviation but not population </a:t>
            </a:r>
            <a:r>
              <a:rPr lang="en-US" dirty="0" err="1"/>
              <a:t>sd</a:t>
            </a:r>
            <a:endParaRPr lang="en-US" dirty="0"/>
          </a:p>
          <a:p>
            <a:r>
              <a:rPr lang="en-US" dirty="0"/>
              <a:t>Break down to 2 slides</a:t>
            </a:r>
          </a:p>
          <a:p>
            <a:r>
              <a:rPr lang="en-US" dirty="0"/>
              <a:t>Experiment </a:t>
            </a:r>
            <a:r>
              <a:rPr lang="en-US" dirty="0">
                <a:sym typeface="Wingdings" pitchFamily="2" charset="2"/>
              </a:rPr>
              <a:t> data collection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9528E-D9AF-4DA1-ACF9-4D645755BA0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4423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9528E-D9AF-4DA1-ACF9-4D645755BA0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2719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9528E-D9AF-4DA1-ACF9-4D645755BA0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895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8E68-D4F7-4A2B-9146-5375FAA220FD}" type="datetimeFigureOut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9/18/25</a:t>
            </a:fld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1448C-9630-4E78-B195-103BA62ABEAD}" type="slidenum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7049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8E68-D4F7-4A2B-9146-5375FAA220FD}" type="datetimeFigureOut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9/18/25</a:t>
            </a:fld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1448C-9630-4E78-B195-103BA62ABEAD}" type="slidenum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7917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8E68-D4F7-4A2B-9146-5375FAA220FD}" type="datetimeFigureOut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9/18/25</a:t>
            </a:fld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1448C-9630-4E78-B195-103BA62ABEAD}" type="slidenum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0688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8E68-D4F7-4A2B-9146-5375FAA220FD}" type="datetimeFigureOut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9/18/25</a:t>
            </a:fld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1448C-9630-4E78-B195-103BA62ABEAD}" type="slidenum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4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8E68-D4F7-4A2B-9146-5375FAA220FD}" type="datetimeFigureOut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9/18/25</a:t>
            </a:fld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1448C-9630-4E78-B195-103BA62ABEAD}" type="slidenum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297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8E68-D4F7-4A2B-9146-5375FAA220FD}" type="datetimeFigureOut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9/18/25</a:t>
            </a:fld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1448C-9630-4E78-B195-103BA62ABEAD}" type="slidenum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6182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8E68-D4F7-4A2B-9146-5375FAA220FD}" type="datetimeFigureOut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9/18/25</a:t>
            </a:fld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1448C-9630-4E78-B195-103BA62ABEAD}" type="slidenum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516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8E68-D4F7-4A2B-9146-5375FAA220FD}" type="datetimeFigureOut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9/18/25</a:t>
            </a:fld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1448C-9630-4E78-B195-103BA62ABEAD}" type="slidenum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971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8E68-D4F7-4A2B-9146-5375FAA220FD}" type="datetimeFigureOut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9/18/25</a:t>
            </a:fld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1448C-9630-4E78-B195-103BA62ABEAD}" type="slidenum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indent="-283464">
              <a:lnSpc>
                <a:spcPts val="3000"/>
              </a:lnSpc>
              <a:spcBef>
                <a:spcPts val="600"/>
              </a:spcBef>
              <a:buClr>
                <a:srgbClr val="3891A7"/>
              </a:buClr>
              <a:buSzPct val="80000"/>
              <a:buFont typeface="Wingdings 2"/>
              <a:buNone/>
            </a:pPr>
            <a:endParaRPr lang="en-US" sz="3200" dirty="0">
              <a:solidFill>
                <a:prstClr val="black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dirty="0"/>
              <a:t>Click icon to add picture</a:t>
            </a:r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84386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8E68-D4F7-4A2B-9146-5375FAA220FD}" type="datetimeFigureOut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9/18/25</a:t>
            </a:fld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1448C-9630-4E78-B195-103BA62ABEAD}" type="slidenum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2060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8E68-D4F7-4A2B-9146-5375FAA220FD}" type="datetimeFigureOut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9/18/25</a:t>
            </a:fld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1448C-9630-4E78-B195-103BA62ABEAD}" type="slidenum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9283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54C78E68-D4F7-4A2B-9146-5375FAA220FD}" type="datetimeFigureOut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9/18/25</a:t>
            </a:fld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4CA1448C-9630-4E78-B195-103BA62ABEAD}" type="slidenum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712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243726" y="1447800"/>
            <a:ext cx="6317755" cy="26161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6600" dirty="0">
                <a:solidFill>
                  <a:srgbClr val="0070C0"/>
                </a:solidFill>
              </a:rPr>
              <a:t>Experiment 2</a:t>
            </a:r>
          </a:p>
          <a:p>
            <a:r>
              <a:rPr lang="en-US" sz="4000" dirty="0"/>
              <a:t>Simple Harmonic Oscillations</a:t>
            </a:r>
          </a:p>
          <a:p>
            <a:endParaRPr lang="en-US" sz="1600" dirty="0"/>
          </a:p>
          <a:p>
            <a:r>
              <a:rPr lang="en-US" sz="3200" dirty="0"/>
              <a:t>PHYS 365 &amp; 369</a:t>
            </a:r>
          </a:p>
        </p:txBody>
      </p:sp>
    </p:spTree>
    <p:extLst>
      <p:ext uri="{BB962C8B-B14F-4D97-AF65-F5344CB8AC3E}">
        <p14:creationId xmlns:p14="http://schemas.microsoft.com/office/powerpoint/2010/main" val="974668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2B906-C1B8-A149-AAF6-82341AEC6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Clarification for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83AFE-9733-A742-9E7A-E822573E6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Type A vs. Type B uncertainty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9E82705E-FE3D-B244-B3A8-850BE4E98F7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35608" y="2366571"/>
                <a:ext cx="7498080" cy="4191000"/>
              </a:xfrm>
              <a:prstGeom prst="rect">
                <a:avLst/>
              </a:prstGeom>
            </p:spPr>
            <p:txBody>
              <a:bodyPr>
                <a:normAutofit lnSpcReduction="10000"/>
              </a:bodyPr>
              <a:lstStyle>
                <a:lvl1pPr marL="365760" indent="-283464" algn="l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Clr>
                    <a:schemeClr val="accent1"/>
                  </a:buClr>
                  <a:buSzPct val="80000"/>
                  <a:buFont typeface="Wingdings 2"/>
                  <a:buChar char=""/>
                  <a:defRPr kumimoji="0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40080" indent="-237744" algn="l" rtl="0" eaLnBrk="1" latinLnBrk="0" hangingPunct="1">
                  <a:lnSpc>
                    <a:spcPct val="100000"/>
                  </a:lnSpc>
                  <a:spcBef>
                    <a:spcPts val="550"/>
                  </a:spcBef>
                  <a:buClr>
                    <a:schemeClr val="accent1"/>
                  </a:buClr>
                  <a:buFont typeface="Verdana"/>
                  <a:buChar char="◦"/>
                  <a:defRPr kumimoji="0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86968" indent="-22860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 2"/>
                  <a:buChar char="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7280" indent="-173736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3"/>
                  </a:buClr>
                  <a:buFont typeface="Wingdings 2"/>
                  <a:buChar char="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98448" indent="-18288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4"/>
                  </a:buClr>
                  <a:buFont typeface="Wingdings 2"/>
                  <a:buChar char="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508760" indent="-18288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5"/>
                  </a:buClr>
                  <a:buFont typeface="Wingdings 2"/>
                  <a:buChar char="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719072" indent="-18288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6"/>
                  </a:buClr>
                  <a:buFont typeface="Wingdings 2"/>
                  <a:buChar char="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920240" indent="-18288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6"/>
                  </a:buClr>
                  <a:buFont typeface="Wingdings 2"/>
                  <a:buChar char="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30552" indent="-18288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6"/>
                  </a:buClr>
                  <a:buFont typeface="Wingdings 2"/>
                  <a:buChar char="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  <a:extLst/>
              </a:lstStyle>
              <a:p>
                <a:pPr>
                  <a:lnSpc>
                    <a:spcPct val="150000"/>
                  </a:lnSpc>
                </a:pPr>
                <a:r>
                  <a:rPr lang="en-US" sz="2400" b="1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Type A 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– evaluated by statistical methods for repeated measurements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𝑎𝑚𝑝𝑙𝑒</m:t>
                        </m:r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𝑆𝑡𝑑𝑒𝑣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</a:t>
                </a:r>
                <a:r>
                  <a:rPr lang="en-US" sz="2400" b="1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Type B 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– evaluated by non-statistical methods (e.g. reading a calibration report, manufacturer specification)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In this course, if the uncertainty is given directly, we’ll take it as a type B uncertainty</a:t>
                </a:r>
              </a:p>
              <a:p>
                <a:endParaRPr lang="en-US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9E82705E-FE3D-B244-B3A8-850BE4E98F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608" y="2366571"/>
                <a:ext cx="7498080" cy="4191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9607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600200" y="1447800"/>
                <a:ext cx="6934200" cy="4800600"/>
              </a:xfrm>
            </p:spPr>
            <p:txBody>
              <a:bodyPr>
                <a:normAutofit/>
              </a:bodyPr>
              <a:lstStyle/>
              <a:p>
                <a:pPr marL="596646" indent="-514350">
                  <a:buFont typeface="+mj-lt"/>
                  <a:buAutoNum type="arabicPeriod"/>
                </a:pPr>
                <a:r>
                  <a:rPr lang="en-US" dirty="0"/>
                  <a:t>Measure angular frequency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dirty="0"/>
                  <a:t>; calculate the spring constant </a:t>
                </a:r>
                <a:r>
                  <a:rPr lang="en-US" i="1" dirty="0"/>
                  <a:t>k</a:t>
                </a:r>
                <a:r>
                  <a:rPr lang="en-US" dirty="0"/>
                  <a:t>.</a:t>
                </a:r>
              </a:p>
              <a:p>
                <a:pPr marL="596646" indent="-514350">
                  <a:buFont typeface="+mj-lt"/>
                  <a:buAutoNum type="arabicPeriod"/>
                </a:pPr>
                <a:r>
                  <a:rPr lang="en-US" dirty="0"/>
                  <a:t>To determine the value of an unknown mass </a:t>
                </a:r>
                <a:r>
                  <a:rPr lang="en-US" i="1" dirty="0"/>
                  <a:t>m’ </a:t>
                </a:r>
                <a:r>
                  <a:rPr lang="en-US" dirty="0"/>
                  <a:t>using a spring.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00200" y="1447800"/>
                <a:ext cx="6934200" cy="4800600"/>
              </a:xfrm>
              <a:blipFill>
                <a:blip r:embed="rId4"/>
                <a:stretch>
                  <a:fillRect l="-176" t="-165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How_to_measure_your_weight_in_space.mp4">
            <a:hlinkClick r:id="" action="ppaction://media"/>
            <a:extLst>
              <a:ext uri="{FF2B5EF4-FFF2-40B4-BE49-F238E27FC236}">
                <a16:creationId xmlns:a16="http://schemas.microsoft.com/office/drawing/2014/main" id="{4A1917CB-47A0-0542-A237-7AE7C514591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286000" y="3505200"/>
            <a:ext cx="5334000" cy="29975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2D1000-278F-514E-B22A-561CCFA13F13}"/>
              </a:ext>
            </a:extLst>
          </p:cNvPr>
          <p:cNvSpPr txBox="1"/>
          <p:nvPr/>
        </p:nvSpPr>
        <p:spPr>
          <a:xfrm>
            <a:off x="7786619" y="5667712"/>
            <a:ext cx="10383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source: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Youtube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2920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Equipment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676400"/>
            <a:ext cx="7315200" cy="4114800"/>
          </a:xfrm>
          <a:prstGeom prst="rect">
            <a:avLst/>
          </a:prstGeom>
        </p:spPr>
      </p:pic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40" t="17379" r="25724" b="12969"/>
          <a:stretch/>
        </p:blipFill>
        <p:spPr>
          <a:xfrm>
            <a:off x="5940137" y="3787914"/>
            <a:ext cx="2594263" cy="2003286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33" r="16667" b="9246"/>
          <a:stretch/>
        </p:blipFill>
        <p:spPr>
          <a:xfrm>
            <a:off x="1137383" y="1659156"/>
            <a:ext cx="2844801" cy="20746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7383" y="6051821"/>
            <a:ext cx="71232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Level the track horizontally and </a:t>
            </a:r>
            <a:r>
              <a:rPr lang="en-US" sz="2000" dirty="0">
                <a:solidFill>
                  <a:prstClr val="black"/>
                </a:solidFill>
              </a:rPr>
              <a:t>sideways (how and why?)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use aluminum shims if needed, screws are only for fine adjustments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25801" y="1300242"/>
            <a:ext cx="40391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Return all the used pieces to the box</a:t>
            </a:r>
          </a:p>
        </p:txBody>
      </p:sp>
    </p:spTree>
    <p:extLst>
      <p:ext uri="{BB962C8B-B14F-4D97-AF65-F5344CB8AC3E}">
        <p14:creationId xmlns:p14="http://schemas.microsoft.com/office/powerpoint/2010/main" val="2828544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Procedure – Part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96646" indent="-514350">
                  <a:buFont typeface="+mj-lt"/>
                  <a:buAutoNum type="arabicPeriod"/>
                </a:pPr>
                <a:r>
                  <a:rPr lang="en-US" sz="2400" dirty="0"/>
                  <a:t>Determine the </a:t>
                </a:r>
                <a:r>
                  <a:rPr lang="en-US" sz="2400" b="1" dirty="0"/>
                  <a:t>mass</a:t>
                </a:r>
                <a:r>
                  <a:rPr lang="en-US" sz="2400" dirty="0"/>
                  <a:t> of the glider using the electronic scale. </a:t>
                </a:r>
              </a:p>
              <a:p>
                <a:pPr marL="596646" indent="-514350">
                  <a:buFont typeface="+mj-lt"/>
                  <a:buAutoNum type="arabicPeriod"/>
                </a:pPr>
                <a:r>
                  <a:rPr lang="en-US" sz="2400" dirty="0"/>
                  <a:t>Use Logger Pro to record the position of the glider (</a:t>
                </a:r>
                <a:r>
                  <a:rPr lang="en-US" sz="2400" b="1" dirty="0"/>
                  <a:t>a few cycles</a:t>
                </a:r>
                <a:r>
                  <a:rPr lang="en-US" sz="2400" dirty="0"/>
                  <a:t>).</a:t>
                </a:r>
              </a:p>
              <a:p>
                <a:pPr marL="596646" indent="-514350">
                  <a:buFont typeface="+mj-lt"/>
                  <a:buAutoNum type="arabicPeriod"/>
                </a:pPr>
                <a:r>
                  <a:rPr lang="en-US" sz="2400" dirty="0"/>
                  <a:t>Use the “</a:t>
                </a:r>
                <a:r>
                  <a:rPr lang="en-US" sz="2400" b="1" dirty="0"/>
                  <a:t>Examine</a:t>
                </a:r>
                <a:r>
                  <a:rPr lang="en-US" sz="2400" dirty="0"/>
                  <a:t>” tool to estimate the period. </a:t>
                </a:r>
              </a:p>
              <a:p>
                <a:pPr marL="596646" indent="-514350">
                  <a:buFont typeface="+mj-lt"/>
                  <a:buAutoNum type="arabicPeriod"/>
                </a:pPr>
                <a:r>
                  <a:rPr lang="en-US" sz="2400" dirty="0"/>
                  <a:t>Use  the “</a:t>
                </a:r>
                <a:r>
                  <a:rPr lang="en-US" sz="2400" b="1" dirty="0"/>
                  <a:t>Analysis</a:t>
                </a:r>
                <a:r>
                  <a:rPr lang="en-US" sz="2400" dirty="0"/>
                  <a:t>” </a:t>
                </a:r>
                <a:r>
                  <a:rPr lang="en-US" sz="2400" dirty="0">
                    <a:sym typeface="Wingdings" pitchFamily="2" charset="2"/>
                  </a:rPr>
                  <a:t></a:t>
                </a:r>
                <a:r>
                  <a:rPr lang="en-US" sz="2400" dirty="0"/>
                  <a:t> “</a:t>
                </a:r>
                <a:r>
                  <a:rPr lang="en-US" sz="2400" b="1" dirty="0"/>
                  <a:t>curve fit</a:t>
                </a:r>
                <a:r>
                  <a:rPr lang="en-US" sz="2400" dirty="0"/>
                  <a:t>”</a:t>
                </a:r>
                <a:r>
                  <a:rPr lang="en-US" sz="2400" b="1" dirty="0"/>
                  <a:t> </a:t>
                </a:r>
                <a:r>
                  <a:rPr lang="en-US" sz="2400" dirty="0"/>
                  <a:t>to fit </a:t>
                </a:r>
                <a:r>
                  <a:rPr lang="en-US" sz="2400" i="1" dirty="0"/>
                  <a:t>x(t) </a:t>
                </a:r>
                <a:r>
                  <a:rPr lang="en-US" sz="2400" dirty="0"/>
                  <a:t>graph to the function: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𝐵𝑐𝑜𝑠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marL="596646" indent="-514350">
                  <a:buFont typeface="+mj-lt"/>
                  <a:buAutoNum type="arabicPeriod"/>
                </a:pPr>
                <a:r>
                  <a:rPr lang="en-US" sz="2400" dirty="0"/>
                  <a:t>Compare values of the period determined above</a:t>
                </a:r>
              </a:p>
              <a:p>
                <a:pPr marL="596646" indent="-514350">
                  <a:buFont typeface="+mj-lt"/>
                  <a:buAutoNum type="arabicPeriod"/>
                </a:pPr>
                <a:r>
                  <a:rPr lang="en-US" sz="2400" dirty="0"/>
                  <a:t>Fit </a:t>
                </a:r>
                <a:r>
                  <a:rPr lang="en-US" sz="2400" b="1" dirty="0"/>
                  <a:t>Acceleration versus Displacement </a:t>
                </a:r>
                <a:r>
                  <a:rPr lang="en-US" sz="2400" dirty="0"/>
                  <a:t>a(x)</a:t>
                </a:r>
                <a:r>
                  <a:rPr lang="en-US" sz="2400" i="1" dirty="0"/>
                  <a:t> </a:t>
                </a:r>
                <a:r>
                  <a:rPr lang="en-US" sz="2400" b="1" dirty="0"/>
                  <a:t>graph </a:t>
                </a:r>
                <a:r>
                  <a:rPr lang="en-US" sz="2400" dirty="0"/>
                  <a:t>with a straight line and record the </a:t>
                </a:r>
                <a:r>
                  <a:rPr lang="en-US" sz="2400" b="1" dirty="0"/>
                  <a:t>slope</a:t>
                </a:r>
                <a:r>
                  <a:rPr lang="en-US" sz="2400" dirty="0"/>
                  <a:t> and </a:t>
                </a:r>
                <a:r>
                  <a:rPr lang="en-US" sz="2400" b="1" dirty="0"/>
                  <a:t>y-intercept </a:t>
                </a:r>
                <a:r>
                  <a:rPr lang="en-US" sz="2400" dirty="0"/>
                  <a:t>with uncertainty for your last trial</a:t>
                </a:r>
                <a:r>
                  <a:rPr lang="en-US" sz="2400" b="1" dirty="0"/>
                  <a:t> only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1017" r="-2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0258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Procedure – Part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96646" indent="-514350">
              <a:buFont typeface="+mj-lt"/>
              <a:buAutoNum type="arabicPeriod" startAt="7"/>
            </a:pPr>
            <a:r>
              <a:rPr lang="en-US" sz="2400" dirty="0"/>
              <a:t>Add an </a:t>
            </a:r>
            <a:r>
              <a:rPr lang="en-US" sz="2400" b="1" dirty="0"/>
              <a:t>additional mass </a:t>
            </a:r>
            <a:r>
              <a:rPr lang="en-US" sz="2400" dirty="0"/>
              <a:t>and repeat your analysis with </a:t>
            </a:r>
            <a:r>
              <a:rPr lang="en-US" sz="2400" i="1" dirty="0"/>
              <a:t>x(t)</a:t>
            </a:r>
            <a:r>
              <a:rPr lang="en-US" sz="2400" dirty="0"/>
              <a:t> graph to determine </a:t>
            </a:r>
            <a:r>
              <a:rPr lang="en-US" sz="2400" b="1" dirty="0"/>
              <a:t>angular frequency </a:t>
            </a:r>
            <a:r>
              <a:rPr lang="en-US" sz="2400" dirty="0"/>
              <a:t>and a(x)</a:t>
            </a:r>
            <a:r>
              <a:rPr lang="en-US" sz="2400" i="1" dirty="0"/>
              <a:t> </a:t>
            </a:r>
            <a:r>
              <a:rPr lang="en-US" sz="2400" dirty="0"/>
              <a:t>graph to determine </a:t>
            </a:r>
            <a:r>
              <a:rPr lang="en-US" sz="2400" b="1" dirty="0"/>
              <a:t>slope</a:t>
            </a:r>
            <a:r>
              <a:rPr lang="en-US" sz="2400" dirty="0"/>
              <a:t> and </a:t>
            </a:r>
            <a:r>
              <a:rPr lang="en-US" sz="2400" b="1" dirty="0"/>
              <a:t>y-intercept</a:t>
            </a:r>
          </a:p>
          <a:p>
            <a:pPr marL="596646" indent="-514350">
              <a:buFont typeface="+mj-lt"/>
              <a:buAutoNum type="arabicPeriod" startAt="7"/>
            </a:pPr>
            <a:r>
              <a:rPr lang="en-US" sz="2400" dirty="0"/>
              <a:t>Measure the </a:t>
            </a:r>
            <a:r>
              <a:rPr lang="en-US" sz="2400" b="1" dirty="0"/>
              <a:t>additional mass </a:t>
            </a:r>
            <a:r>
              <a:rPr lang="en-US" sz="2400" dirty="0"/>
              <a:t>using the mass balance. </a:t>
            </a:r>
          </a:p>
          <a:p>
            <a:pPr marL="596646" indent="-514350">
              <a:buFont typeface="+mj-lt"/>
              <a:buAutoNum type="arabicPeriod" startAt="7"/>
            </a:pPr>
            <a:r>
              <a:rPr lang="en-US" sz="2400" dirty="0"/>
              <a:t>Estimate the uncertainty in </a:t>
            </a:r>
            <a:r>
              <a:rPr lang="en-US" sz="2400" u="sng" dirty="0">
                <a:solidFill>
                  <a:srgbClr val="C00000"/>
                </a:solidFill>
              </a:rPr>
              <a:t>Each Case</a:t>
            </a:r>
          </a:p>
        </p:txBody>
      </p:sp>
    </p:spTree>
    <p:extLst>
      <p:ext uri="{BB962C8B-B14F-4D97-AF65-F5344CB8AC3E}">
        <p14:creationId xmlns:p14="http://schemas.microsoft.com/office/powerpoint/2010/main" val="1081644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1295400" y="1320165"/>
            <a:ext cx="6934199" cy="661035"/>
          </a:xfrm>
        </p:spPr>
        <p:txBody>
          <a:bodyPr>
            <a:normAutofit/>
          </a:bodyPr>
          <a:lstStyle/>
          <a:p>
            <a:r>
              <a:rPr lang="en-US" sz="3200" dirty="0"/>
              <a:t>Go to Analysis/ Curve fit</a:t>
            </a:r>
          </a:p>
          <a:p>
            <a:pPr marL="82296" indent="0">
              <a:buNone/>
            </a:pPr>
            <a:endParaRPr lang="en-US" sz="32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833" b="36666"/>
          <a:stretch/>
        </p:blipFill>
        <p:spPr>
          <a:xfrm>
            <a:off x="1905000" y="1912749"/>
            <a:ext cx="6172200" cy="4472230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 flipV="1">
            <a:off x="2819400" y="3733800"/>
            <a:ext cx="533400" cy="6096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9084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 to: Define function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67" t="12963" r="15000" b="15926"/>
          <a:stretch/>
        </p:blipFill>
        <p:spPr>
          <a:xfrm>
            <a:off x="1717548" y="2438400"/>
            <a:ext cx="6934200" cy="3657600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V="1">
            <a:off x="3962400" y="5029200"/>
            <a:ext cx="533400" cy="6096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556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Enter the formula:  A+(B*cos(C*t + D))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00" t="17407" r="24167" b="21852"/>
          <a:stretch/>
        </p:blipFill>
        <p:spPr>
          <a:xfrm>
            <a:off x="2057400" y="2073307"/>
            <a:ext cx="6874058" cy="4403693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V="1">
            <a:off x="4419600" y="4191000"/>
            <a:ext cx="533400" cy="6096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0507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30" y="1532483"/>
            <a:ext cx="8944708" cy="48598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Procedure</a:t>
            </a:r>
          </a:p>
        </p:txBody>
      </p:sp>
    </p:spTree>
    <p:extLst>
      <p:ext uri="{BB962C8B-B14F-4D97-AF65-F5344CB8AC3E}">
        <p14:creationId xmlns:p14="http://schemas.microsoft.com/office/powerpoint/2010/main" val="28032194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Procedure 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447800"/>
            <a:ext cx="7498080" cy="5410200"/>
          </a:xfrm>
        </p:spPr>
        <p:txBody>
          <a:bodyPr>
            <a:normAutofit/>
          </a:bodyPr>
          <a:lstStyle/>
          <a:p>
            <a:r>
              <a:rPr lang="en-US" sz="2400" dirty="0"/>
              <a:t>Cosine function curve fitting should be done </a:t>
            </a:r>
            <a:r>
              <a:rPr lang="en-US" sz="2400" b="1" dirty="0"/>
              <a:t>five times </a:t>
            </a:r>
            <a:r>
              <a:rPr lang="en-US" sz="2400" dirty="0"/>
              <a:t>(do the experiment five times) in order to get the </a:t>
            </a:r>
            <a:r>
              <a:rPr lang="en-US" sz="2400" b="1" u="sng" dirty="0"/>
              <a:t>standard deviation </a:t>
            </a:r>
            <a:r>
              <a:rPr lang="en-US" sz="2400" b="1" dirty="0"/>
              <a:t>of the mean </a:t>
            </a:r>
            <a:r>
              <a:rPr lang="en-US" sz="2400" dirty="0"/>
              <a:t>as your uncertainty. Only the absolute value of your Constant </a:t>
            </a:r>
            <a:r>
              <a:rPr lang="en-US" sz="2400" b="1" dirty="0"/>
              <a:t>C</a:t>
            </a:r>
            <a:r>
              <a:rPr lang="en-US" sz="2400" dirty="0"/>
              <a:t>, which is your angular frequency, should be used for calculation.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 The “Examine” tool manually determines the period using the cursor.  The uncertainty is just your </a:t>
            </a:r>
            <a:r>
              <a:rPr lang="en-US" sz="2400" b="1" dirty="0"/>
              <a:t>data time resolution</a:t>
            </a:r>
            <a:r>
              <a:rPr lang="en-US" sz="2400" dirty="0"/>
              <a:t>. Experiment </a:t>
            </a:r>
            <a:r>
              <a:rPr lang="en-US" sz="2400" dirty="0">
                <a:sym typeface="Wingdings" pitchFamily="2" charset="2"/>
              </a:rPr>
              <a:t> </a:t>
            </a:r>
            <a:r>
              <a:rPr lang="en-US" sz="2400" dirty="0"/>
              <a:t>Data Collection</a:t>
            </a:r>
          </a:p>
        </p:txBody>
      </p:sp>
    </p:spTree>
    <p:extLst>
      <p:ext uri="{BB962C8B-B14F-4D97-AF65-F5344CB8AC3E}">
        <p14:creationId xmlns:p14="http://schemas.microsoft.com/office/powerpoint/2010/main" val="329822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Procedure 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447800"/>
            <a:ext cx="7498080" cy="5410200"/>
          </a:xfrm>
        </p:spPr>
        <p:txBody>
          <a:bodyPr>
            <a:normAutofit/>
          </a:bodyPr>
          <a:lstStyle/>
          <a:p>
            <a:r>
              <a:rPr lang="en-US" sz="2400" dirty="0"/>
              <a:t>In analyzing </a:t>
            </a:r>
            <a:r>
              <a:rPr lang="en-US" sz="2400" i="1" dirty="0"/>
              <a:t>a(x)</a:t>
            </a:r>
            <a:r>
              <a:rPr lang="en-US" sz="2400" b="1" i="1" dirty="0"/>
              <a:t> </a:t>
            </a:r>
            <a:r>
              <a:rPr lang="en-US" sz="2400" dirty="0"/>
              <a:t>graph, use the </a:t>
            </a:r>
            <a:r>
              <a:rPr lang="en-US" sz="2400" b="1" dirty="0"/>
              <a:t>curve fitting</a:t>
            </a:r>
            <a:r>
              <a:rPr lang="en-US" sz="2400" dirty="0"/>
              <a:t> tool. There is a line function to fit your data, and it gives you the uncertainties for slope and intercept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Add only </a:t>
            </a:r>
            <a:r>
              <a:rPr lang="en-US" sz="2400" b="1" dirty="0"/>
              <a:t>one additional mass (~ 50 g) </a:t>
            </a:r>
            <a:r>
              <a:rPr lang="en-US" sz="2400"/>
              <a:t>to each </a:t>
            </a:r>
            <a:r>
              <a:rPr lang="en-US" sz="2400" dirty="0"/>
              <a:t>side of the glider</a:t>
            </a:r>
          </a:p>
        </p:txBody>
      </p:sp>
    </p:spTree>
    <p:extLst>
      <p:ext uri="{BB962C8B-B14F-4D97-AF65-F5344CB8AC3E}">
        <p14:creationId xmlns:p14="http://schemas.microsoft.com/office/powerpoint/2010/main" val="1395081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/>
              <a:t>Calculate</a:t>
            </a:r>
            <a:r>
              <a:rPr lang="en-US" sz="2800" i="1" dirty="0"/>
              <a:t> </a:t>
            </a:r>
            <a:r>
              <a:rPr lang="en-US" sz="2800" i="1" dirty="0" err="1"/>
              <a:t>k</a:t>
            </a:r>
            <a:r>
              <a:rPr lang="en-US" sz="2800" i="1" baseline="-25000" dirty="0" err="1"/>
              <a:t>effective</a:t>
            </a:r>
            <a:r>
              <a:rPr lang="en-US" sz="2800" i="1" dirty="0"/>
              <a:t> </a:t>
            </a:r>
            <a:r>
              <a:rPr lang="en-US" sz="2800" dirty="0"/>
              <a:t>and individual spring constant k from both </a:t>
            </a:r>
            <a:r>
              <a:rPr lang="en-US" sz="2800" i="1" dirty="0"/>
              <a:t>x(t) </a:t>
            </a:r>
            <a:r>
              <a:rPr lang="en-US" sz="2800" dirty="0"/>
              <a:t>and </a:t>
            </a:r>
            <a:r>
              <a:rPr lang="en-US" sz="2800" i="1" dirty="0"/>
              <a:t>a</a:t>
            </a:r>
            <a:r>
              <a:rPr lang="en-US" sz="2800" i="1" baseline="-25000" dirty="0"/>
              <a:t>x</a:t>
            </a:r>
            <a:r>
              <a:rPr lang="en-US" sz="2800" i="1" dirty="0"/>
              <a:t>(t) </a:t>
            </a:r>
            <a:r>
              <a:rPr lang="en-US" sz="2800" dirty="0"/>
              <a:t>analysis, propagate uncertainties</a:t>
            </a:r>
          </a:p>
          <a:p>
            <a:endParaRPr lang="en-US" sz="2800" dirty="0"/>
          </a:p>
          <a:p>
            <a:r>
              <a:rPr lang="en-US" sz="2800" dirty="0"/>
              <a:t>Compare these two values of the effective elastic spring constant </a:t>
            </a:r>
          </a:p>
          <a:p>
            <a:endParaRPr lang="en-US" sz="2800" dirty="0"/>
          </a:p>
          <a:p>
            <a:r>
              <a:rPr lang="en-US" sz="2800" dirty="0"/>
              <a:t>Calculate the value of the additional mass </a:t>
            </a:r>
            <a:r>
              <a:rPr lang="en-US" sz="2800" i="1" dirty="0"/>
              <a:t>m’ </a:t>
            </a:r>
            <a:r>
              <a:rPr lang="en-US" sz="2800" dirty="0"/>
              <a:t>based on the effective spring constant obtained and compare it with the measured one from the balance (show your calculations)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7732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03123-2FA2-4B36-A05F-C86CA05BB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Combined standard uncertainty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43EA1C-F1F9-4524-921F-0A1E2E3420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72896" y="1417638"/>
                <a:ext cx="7918704" cy="4800600"/>
              </a:xfrm>
            </p:spPr>
            <p:txBody>
              <a:bodyPr>
                <a:normAutofit fontScale="92500" lnSpcReduction="10000"/>
              </a:bodyPr>
              <a:lstStyle/>
              <a:p>
                <a:pPr algn="just"/>
                <a:r>
                  <a:rPr lang="en-US" dirty="0">
                    <a:latin typeface="+mj-lt"/>
                  </a:rPr>
                  <a:t>If measured value uncertainty consists of both Type A and Type B, then </a:t>
                </a:r>
                <a:r>
                  <a:rPr lang="en-US" dirty="0"/>
                  <a:t>combined standard uncertainty is</a:t>
                </a:r>
              </a:p>
              <a:p>
                <a:pPr marL="82296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32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CA" sz="3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CA" sz="3200" b="0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CA" sz="3200" b="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CA" sz="3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CA" sz="32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CA" sz="32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sz="3200" b="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CA" sz="3200" b="0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CA" sz="32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CA" sz="32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CA" sz="3200" b="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CA" sz="32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CA" sz="3200" b="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CA" sz="3200" b="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sz="3200" b="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CA" sz="3200" b="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𝐵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CA" sz="3200" b="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3200" b="0" i="1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CA" sz="32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lang="en-CA" sz="3200" b="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CA" sz="3200" dirty="0"/>
              </a:p>
              <a:p>
                <a:endParaRPr lang="en-CA" sz="3200" dirty="0"/>
              </a:p>
              <a:p>
                <a:pPr algn="just"/>
                <a:r>
                  <a:rPr lang="en-US" dirty="0">
                    <a:latin typeface="+mj-lt"/>
                  </a:rPr>
                  <a:t>Or if one of the values dominates (i.e. is much larger than the other), you can use the larger value of the estimated uncertainly .</a:t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43EA1C-F1F9-4524-921F-0A1E2E3420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2896" y="1417638"/>
                <a:ext cx="7918704" cy="4800600"/>
              </a:xfrm>
              <a:blipFill>
                <a:blip r:embed="rId2"/>
                <a:stretch>
                  <a:fillRect t="-2541" r="-17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25705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Propagated standard uncertainty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:r>
                  <a:rPr lang="en-US" dirty="0">
                    <a:latin typeface="+mj-lt"/>
                  </a:rPr>
                  <a:t>If measured values are </a:t>
                </a:r>
                <a:r>
                  <a:rPr lang="en-US" i="1" dirty="0">
                    <a:latin typeface="+mj-lt"/>
                  </a:rPr>
                  <a:t>x</a:t>
                </a:r>
                <a:r>
                  <a:rPr lang="en-US" dirty="0">
                    <a:latin typeface="+mj-lt"/>
                  </a:rPr>
                  <a:t> with the uncertainty </a:t>
                </a:r>
                <a:r>
                  <a:rPr lang="en-US" i="1" dirty="0">
                    <a:latin typeface="+mj-lt"/>
                  </a:rPr>
                  <a:t>u(x) </a:t>
                </a:r>
                <a:r>
                  <a:rPr lang="en-US" dirty="0">
                    <a:latin typeface="+mj-lt"/>
                  </a:rPr>
                  <a:t>and are </a:t>
                </a:r>
                <a:r>
                  <a:rPr lang="en-US" i="1" dirty="0">
                    <a:latin typeface="+mj-lt"/>
                  </a:rPr>
                  <a:t>y</a:t>
                </a:r>
                <a:r>
                  <a:rPr lang="en-US" dirty="0">
                    <a:latin typeface="+mj-lt"/>
                  </a:rPr>
                  <a:t> with the uncertainty </a:t>
                </a:r>
                <a:r>
                  <a:rPr lang="en-US" i="1" dirty="0">
                    <a:latin typeface="+mj-lt"/>
                  </a:rPr>
                  <a:t>u(y)</a:t>
                </a:r>
              </a:p>
              <a:p>
                <a:r>
                  <a:rPr lang="en-US" dirty="0">
                    <a:latin typeface="+mj-lt"/>
                  </a:rPr>
                  <a:t>Calculated value is </a:t>
                </a:r>
                <a:r>
                  <a:rPr lang="en-US" i="1" dirty="0">
                    <a:latin typeface="+mj-lt"/>
                  </a:rPr>
                  <a:t>r</a:t>
                </a:r>
                <a:r>
                  <a:rPr lang="en-US" dirty="0">
                    <a:latin typeface="+mj-lt"/>
                  </a:rPr>
                  <a:t>=</a:t>
                </a:r>
                <a:r>
                  <a:rPr lang="en-US" i="1" dirty="0">
                    <a:latin typeface="+mj-lt"/>
                  </a:rPr>
                  <a:t>r(x, y)</a:t>
                </a:r>
                <a:r>
                  <a:rPr lang="en-US" dirty="0">
                    <a:latin typeface="+mj-lt"/>
                  </a:rPr>
                  <a:t>,</a:t>
                </a:r>
                <a:r>
                  <a:rPr lang="en-US" i="1" dirty="0">
                    <a:latin typeface="+mj-lt"/>
                  </a:rPr>
                  <a:t> </a:t>
                </a:r>
                <a:r>
                  <a:rPr lang="en-US" dirty="0">
                    <a:latin typeface="+mj-lt"/>
                  </a:rPr>
                  <a:t>then</a:t>
                </a:r>
              </a:p>
              <a:p>
                <a:pPr marL="82296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𝑟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𝑟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1219200" y="4114800"/>
            <a:ext cx="7714488" cy="13716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435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7714488" cy="11430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  <a:cs typeface="Arial" panose="020B0604020202020204" pitchFamily="34" charset="0"/>
              </a:rPr>
              <a:t>Comparing Two Values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327404" y="1227138"/>
            <a:ext cx="7498080" cy="544036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cs typeface="Arial" panose="020B0604020202020204" pitchFamily="34" charset="0"/>
              </a:rPr>
              <a:t>In case we have two measurements </a:t>
            </a:r>
            <a:r>
              <a:rPr lang="en-US" i="1" dirty="0">
                <a:cs typeface="Arial" panose="020B0604020202020204" pitchFamily="34" charset="0"/>
              </a:rPr>
              <a:t>x</a:t>
            </a:r>
            <a:r>
              <a:rPr lang="en-US" i="1" baseline="-25000" dirty="0">
                <a:cs typeface="Arial" panose="020B0604020202020204" pitchFamily="34" charset="0"/>
              </a:rPr>
              <a:t>1</a:t>
            </a:r>
            <a:r>
              <a:rPr lang="en-US" dirty="0">
                <a:cs typeface="Arial" panose="020B0604020202020204" pitchFamily="34" charset="0"/>
              </a:rPr>
              <a:t> and </a:t>
            </a:r>
            <a:r>
              <a:rPr lang="en-US" i="1" dirty="0">
                <a:cs typeface="Arial" panose="020B0604020202020204" pitchFamily="34" charset="0"/>
              </a:rPr>
              <a:t>x</a:t>
            </a:r>
            <a:r>
              <a:rPr lang="en-US" i="1" baseline="-25000" dirty="0">
                <a:cs typeface="Arial" panose="020B0604020202020204" pitchFamily="34" charset="0"/>
              </a:rPr>
              <a:t>2</a:t>
            </a:r>
            <a:r>
              <a:rPr lang="en-US" dirty="0">
                <a:cs typeface="Arial" panose="020B0604020202020204" pitchFamily="34" charset="0"/>
              </a:rPr>
              <a:t>, how can we compare: </a:t>
            </a:r>
          </a:p>
          <a:p>
            <a:pPr>
              <a:lnSpc>
                <a:spcPct val="150000"/>
              </a:lnSpc>
            </a:pPr>
            <a:endParaRPr lang="en-US" dirty="0">
              <a:cs typeface="Arial" panose="020B0604020202020204" pitchFamily="34" charset="0"/>
            </a:endParaRPr>
          </a:p>
          <a:p>
            <a:pPr marL="82296" indent="0">
              <a:lnSpc>
                <a:spcPct val="150000"/>
              </a:lnSpc>
              <a:buNone/>
            </a:pPr>
            <a:endParaRPr lang="en-US" dirty="0"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cs typeface="Arial" panose="020B0604020202020204" pitchFamily="34" charset="0"/>
              </a:rPr>
              <a:t>Small</a:t>
            </a:r>
            <a:r>
              <a:rPr lang="en-US" dirty="0">
                <a:cs typeface="Arial" panose="020B0604020202020204" pitchFamily="34" charset="0"/>
              </a:rPr>
              <a:t> value (&lt;2) of |t| means </a:t>
            </a:r>
            <a:r>
              <a:rPr lang="en-US" i="1" dirty="0">
                <a:cs typeface="Arial" panose="020B0604020202020204" pitchFamily="34" charset="0"/>
              </a:rPr>
              <a:t>x</a:t>
            </a:r>
            <a:r>
              <a:rPr lang="en-US" i="1" baseline="-25000" dirty="0">
                <a:cs typeface="Arial" panose="020B0604020202020204" pitchFamily="34" charset="0"/>
              </a:rPr>
              <a:t>1</a:t>
            </a:r>
            <a:r>
              <a:rPr lang="en-US" dirty="0">
                <a:cs typeface="Arial" panose="020B0604020202020204" pitchFamily="34" charset="0"/>
              </a:rPr>
              <a:t> and </a:t>
            </a:r>
            <a:r>
              <a:rPr lang="en-US" i="1" dirty="0">
                <a:cs typeface="Arial" panose="020B0604020202020204" pitchFamily="34" charset="0"/>
              </a:rPr>
              <a:t>x</a:t>
            </a:r>
            <a:r>
              <a:rPr lang="en-US" i="1" baseline="-25000" dirty="0">
                <a:cs typeface="Arial" panose="020B0604020202020204" pitchFamily="34" charset="0"/>
              </a:rPr>
              <a:t>2</a:t>
            </a:r>
            <a:r>
              <a:rPr lang="en-US" dirty="0">
                <a:cs typeface="Arial" panose="020B0604020202020204" pitchFamily="34" charset="0"/>
              </a:rPr>
              <a:t> are very </a:t>
            </a:r>
            <a:r>
              <a:rPr lang="en-US" b="1" dirty="0">
                <a:cs typeface="Arial" panose="020B0604020202020204" pitchFamily="34" charset="0"/>
              </a:rPr>
              <a:t>similar</a:t>
            </a:r>
          </a:p>
          <a:p>
            <a:pPr>
              <a:lnSpc>
                <a:spcPct val="150000"/>
              </a:lnSpc>
            </a:pPr>
            <a:r>
              <a:rPr lang="en-US" b="1" dirty="0">
                <a:cs typeface="Arial" panose="020B0604020202020204" pitchFamily="34" charset="0"/>
              </a:rPr>
              <a:t>Large</a:t>
            </a:r>
            <a:r>
              <a:rPr lang="en-US" dirty="0">
                <a:cs typeface="Arial" panose="020B0604020202020204" pitchFamily="34" charset="0"/>
              </a:rPr>
              <a:t> value (&gt;2) of |t| means </a:t>
            </a:r>
            <a:r>
              <a:rPr lang="en-US" i="1" dirty="0">
                <a:cs typeface="Arial" panose="020B0604020202020204" pitchFamily="34" charset="0"/>
              </a:rPr>
              <a:t>x</a:t>
            </a:r>
            <a:r>
              <a:rPr lang="en-US" i="1" baseline="-25000" dirty="0">
                <a:cs typeface="Arial" panose="020B0604020202020204" pitchFamily="34" charset="0"/>
              </a:rPr>
              <a:t>1</a:t>
            </a:r>
            <a:r>
              <a:rPr lang="en-US" dirty="0">
                <a:cs typeface="Arial" panose="020B0604020202020204" pitchFamily="34" charset="0"/>
              </a:rPr>
              <a:t> and </a:t>
            </a:r>
            <a:r>
              <a:rPr lang="en-US" i="1" dirty="0">
                <a:cs typeface="Arial" panose="020B0604020202020204" pitchFamily="34" charset="0"/>
              </a:rPr>
              <a:t>x</a:t>
            </a:r>
            <a:r>
              <a:rPr lang="en-US" i="1" baseline="-25000" dirty="0">
                <a:cs typeface="Arial" panose="020B0604020202020204" pitchFamily="34" charset="0"/>
              </a:rPr>
              <a:t>2</a:t>
            </a:r>
            <a:r>
              <a:rPr lang="en-US" dirty="0">
                <a:cs typeface="Arial" panose="020B0604020202020204" pitchFamily="34" charset="0"/>
              </a:rPr>
              <a:t> are very </a:t>
            </a:r>
            <a:r>
              <a:rPr lang="en-US" b="1" dirty="0">
                <a:cs typeface="Arial" panose="020B0604020202020204" pitchFamily="34" charset="0"/>
              </a:rPr>
              <a:t>dissimilar</a:t>
            </a:r>
          </a:p>
          <a:p>
            <a:pPr>
              <a:lnSpc>
                <a:spcPct val="150000"/>
              </a:lnSpc>
            </a:pPr>
            <a:endParaRPr lang="en-US" dirty="0">
              <a:cs typeface="Arial" panose="020B0604020202020204" pitchFamily="34" charset="0"/>
            </a:endParaRPr>
          </a:p>
          <a:p>
            <a:pPr marL="82296" indent="0">
              <a:lnSpc>
                <a:spcPct val="150000"/>
              </a:lnSpc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981200" y="2743200"/>
                <a:ext cx="5334000" cy="9845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Sup>
                                <m:sSubSupPr>
                                  <m:ctrlPr>
                                    <a:rPr lang="en-US" sz="3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30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30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  <m:sup>
                                  <m:r>
                                    <a:rPr lang="en-US" sz="3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3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sz="3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3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3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3000" i="1"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sSubSup>
                                <m:sSubSupPr>
                                  <m:ctrlPr>
                                    <a:rPr lang="en-US" sz="3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30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30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  <m:sup>
                                  <m:r>
                                    <a:rPr lang="en-US" sz="3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3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3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3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rad>
                        </m:den>
                      </m:f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2743200"/>
                <a:ext cx="5334000" cy="984500"/>
              </a:xfrm>
              <a:prstGeom prst="rect">
                <a:avLst/>
              </a:prstGeom>
              <a:blipFill>
                <a:blip r:embed="rId2"/>
                <a:stretch>
                  <a:fillRect t="-1282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990600" y="6364069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more information please see pages 9 &amp; 10 of “Measurement Uncertainty” on D2L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3448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Arial" panose="020B0604020202020204" pitchFamily="34" charset="0"/>
              </a:rPr>
              <a:t>Before you leave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752600"/>
            <a:ext cx="7498080" cy="4038600"/>
          </a:xfrm>
        </p:spPr>
        <p:txBody>
          <a:bodyPr/>
          <a:lstStyle/>
          <a:p>
            <a:r>
              <a:rPr lang="en-US" dirty="0">
                <a:cs typeface="Arial" panose="020B0604020202020204" pitchFamily="34" charset="0"/>
              </a:rPr>
              <a:t>Submit your raw data template to the Dropbox! (Must be submitted within one hour of lab completion)</a:t>
            </a:r>
          </a:p>
        </p:txBody>
      </p:sp>
    </p:spTree>
    <p:extLst>
      <p:ext uri="{BB962C8B-B14F-4D97-AF65-F5344CB8AC3E}">
        <p14:creationId xmlns:p14="http://schemas.microsoft.com/office/powerpoint/2010/main" val="35161143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Laboratory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Title of experiment, date, partners’ names,  TA’s name, lab section</a:t>
            </a:r>
          </a:p>
          <a:p>
            <a:r>
              <a:rPr lang="en-US" dirty="0"/>
              <a:t>Objective</a:t>
            </a:r>
          </a:p>
          <a:p>
            <a:r>
              <a:rPr lang="en-US" dirty="0"/>
              <a:t>Method (include the equation)</a:t>
            </a:r>
          </a:p>
          <a:p>
            <a:r>
              <a:rPr lang="en-US" dirty="0"/>
              <a:t>Data (Table)</a:t>
            </a:r>
          </a:p>
          <a:p>
            <a:r>
              <a:rPr lang="en-US" dirty="0"/>
              <a:t>Analysis </a:t>
            </a:r>
          </a:p>
          <a:p>
            <a:r>
              <a:rPr lang="en-US" dirty="0"/>
              <a:t>Discussion </a:t>
            </a:r>
          </a:p>
          <a:p>
            <a:r>
              <a:rPr lang="en-US" dirty="0"/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25331476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5288</TotalTime>
  <Words>869</Words>
  <Application>Microsoft Macintosh PowerPoint</Application>
  <PresentationFormat>On-screen Show (4:3)</PresentationFormat>
  <Paragraphs>93</Paragraphs>
  <Slides>18</Slides>
  <Notes>7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Cambria Math</vt:lpstr>
      <vt:lpstr>Gill Sans MT</vt:lpstr>
      <vt:lpstr>Verdana</vt:lpstr>
      <vt:lpstr>Wingdings</vt:lpstr>
      <vt:lpstr>Wingdings 2</vt:lpstr>
      <vt:lpstr>Solstice</vt:lpstr>
      <vt:lpstr>PowerPoint Presentation</vt:lpstr>
      <vt:lpstr>Clarification for definition</vt:lpstr>
      <vt:lpstr>Objective</vt:lpstr>
      <vt:lpstr>Equipment</vt:lpstr>
      <vt:lpstr>Procedure – Part 1</vt:lpstr>
      <vt:lpstr>Procedure – Part 2</vt:lpstr>
      <vt:lpstr>Procedure</vt:lpstr>
      <vt:lpstr>Procedure</vt:lpstr>
      <vt:lpstr>Procedure</vt:lpstr>
      <vt:lpstr>Procedure</vt:lpstr>
      <vt:lpstr>Procedure Key Points</vt:lpstr>
      <vt:lpstr>Procedure Key Points</vt:lpstr>
      <vt:lpstr>Analysis</vt:lpstr>
      <vt:lpstr>Combined standard uncertainty</vt:lpstr>
      <vt:lpstr>Propagated standard uncertainty</vt:lpstr>
      <vt:lpstr>Comparing Two Values</vt:lpstr>
      <vt:lpstr>Before you leave</vt:lpstr>
      <vt:lpstr>Laboratory report</vt:lpstr>
    </vt:vector>
  </TitlesOfParts>
  <Company>University of Manitoba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Laboratory report</dc:title>
  <dc:creator>Marzena</dc:creator>
  <cp:lastModifiedBy>Sean Stotyn</cp:lastModifiedBy>
  <cp:revision>140</cp:revision>
  <cp:lastPrinted>2018-09-24T23:02:56Z</cp:lastPrinted>
  <dcterms:created xsi:type="dcterms:W3CDTF">2014-01-08T19:20:15Z</dcterms:created>
  <dcterms:modified xsi:type="dcterms:W3CDTF">2025-09-18T17:22:56Z</dcterms:modified>
</cp:coreProperties>
</file>