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7" r:id="rId3"/>
    <p:sldId id="259" r:id="rId4"/>
    <p:sldId id="275" r:id="rId5"/>
    <p:sldId id="276" r:id="rId6"/>
    <p:sldId id="257" r:id="rId7"/>
    <p:sldId id="270" r:id="rId8"/>
    <p:sldId id="262" r:id="rId9"/>
    <p:sldId id="277" r:id="rId10"/>
    <p:sldId id="278" r:id="rId11"/>
    <p:sldId id="27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84651" autoAdjust="0"/>
  </p:normalViewPr>
  <p:slideViewPr>
    <p:cSldViewPr>
      <p:cViewPr varScale="1">
        <p:scale>
          <a:sx n="97" d="100"/>
          <a:sy n="97" d="100"/>
        </p:scale>
        <p:origin x="20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A187C-F08A-4E95-AD4E-157BA55A8EA0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20D40-EACF-4ACC-ABB2-4C646258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0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In this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20D40-EACF-4ACC-ABB2-4C64625809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23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There is a section named ‘Calculation</a:t>
            </a:r>
            <a:r>
              <a:rPr lang="en-CA" baseline="0" dirty="0" smtClean="0"/>
              <a:t> of uncertainties in the write up</a:t>
            </a:r>
            <a:r>
              <a:rPr lang="en-CA" dirty="0" smtClean="0"/>
              <a:t>’</a:t>
            </a:r>
          </a:p>
          <a:p>
            <a:r>
              <a:rPr lang="en-CA" dirty="0" smtClean="0"/>
              <a:t>Please read that carefully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20D40-EACF-4ACC-ABB2-4C64625809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3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20D40-EACF-4ACC-ABB2-4C64625809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6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 smtClean="0"/>
              <a:t>Ionization energy : how is</a:t>
            </a:r>
            <a:r>
              <a:rPr lang="en-CA" baseline="0" dirty="0" smtClean="0"/>
              <a:t> it defined (the energy it takes to remove the electron from n =1 to n =</a:t>
            </a:r>
            <a:r>
              <a:rPr lang="en-CA" baseline="0" dirty="0" err="1" smtClean="0"/>
              <a:t>inf</a:t>
            </a:r>
            <a:r>
              <a:rPr lang="en-CA" baseline="0" dirty="0" smtClean="0"/>
              <a:t>)</a:t>
            </a:r>
            <a:endParaRPr lang="en-CA" dirty="0" smtClean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20D40-EACF-4ACC-ABB2-4C64625809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02AE226-8185-4331-BFF7-EA5E9054DBDB}" type="datetimeFigureOut">
              <a:rPr lang="en-US" smtClean="0"/>
              <a:t>11/1/2019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24EA180-B0EB-4B32-8C87-7B51901545E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PHYS 365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8" t="54364" r="10824" b="34002"/>
          <a:stretch/>
        </p:blipFill>
        <p:spPr bwMode="auto">
          <a:xfrm>
            <a:off x="1523999" y="228600"/>
            <a:ext cx="7488383" cy="78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C:\Users\Marzena\mki\Lab_1Y\W2014\PHYS 1070_W2014\Pictures\Exp_5\DSCN1383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" b="23409"/>
          <a:stretch/>
        </p:blipFill>
        <p:spPr bwMode="auto">
          <a:xfrm rot="5400000">
            <a:off x="5306291" y="2923309"/>
            <a:ext cx="4876800" cy="253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279237" y="2142073"/>
            <a:ext cx="5229380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dirty="0">
                <a:solidFill>
                  <a:srgbClr val="0070C0"/>
                </a:solidFill>
              </a:rPr>
              <a:t>Experiment 4</a:t>
            </a:r>
          </a:p>
          <a:p>
            <a:r>
              <a:rPr lang="en-CA" altLang="en-US" sz="4000" dirty="0"/>
              <a:t>Hydrogen </a:t>
            </a:r>
            <a:r>
              <a:rPr lang="en-CA" altLang="en-US" sz="4000" dirty="0" err="1"/>
              <a:t>Balmer</a:t>
            </a:r>
            <a:r>
              <a:rPr lang="en-CA" altLang="en-US" sz="4000" dirty="0"/>
              <a:t> Series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61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learn how to calibrate a spectroscope</a:t>
            </a:r>
          </a:p>
          <a:p>
            <a:r>
              <a:rPr lang="en-US" dirty="0"/>
              <a:t>To determine experimental values of:</a:t>
            </a:r>
          </a:p>
          <a:p>
            <a:pPr lvl="1"/>
            <a:r>
              <a:rPr lang="en-US" dirty="0"/>
              <a:t>diffraction grating spacing</a:t>
            </a:r>
          </a:p>
          <a:p>
            <a:pPr lvl="1"/>
            <a:r>
              <a:rPr lang="en-US" dirty="0"/>
              <a:t>wavelengths in the </a:t>
            </a:r>
            <a:r>
              <a:rPr lang="en-US" dirty="0" err="1"/>
              <a:t>Balmer</a:t>
            </a:r>
            <a:r>
              <a:rPr lang="en-US" dirty="0"/>
              <a:t> series</a:t>
            </a:r>
          </a:p>
          <a:p>
            <a:pPr lvl="1"/>
            <a:r>
              <a:rPr lang="en-US" dirty="0"/>
              <a:t>Rydberg constant</a:t>
            </a:r>
          </a:p>
          <a:p>
            <a:pPr lvl="1"/>
            <a:r>
              <a:rPr lang="en-US" dirty="0"/>
              <a:t>Ionization energy of Hydrogen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69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Spectral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altLang="en-US" dirty="0"/>
          </a:p>
          <a:p>
            <a:endParaRPr lang="en-CA" altLang="en-US" dirty="0"/>
          </a:p>
          <a:p>
            <a:r>
              <a:rPr lang="en-CA" altLang="en-US" dirty="0"/>
              <a:t>Every line is an image of the slit – narrow and rectangular in shape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8" t="54364" r="12847" b="34002"/>
          <a:stretch/>
        </p:blipFill>
        <p:spPr bwMode="auto">
          <a:xfrm>
            <a:off x="1113834" y="1524000"/>
            <a:ext cx="782234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6" t="42182" r="65109" b="49091"/>
          <a:stretch/>
        </p:blipFill>
        <p:spPr>
          <a:xfrm rot="5400000">
            <a:off x="2238370" y="4381500"/>
            <a:ext cx="2590800" cy="114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2" t="42631" r="64186" b="47884"/>
          <a:stretch/>
        </p:blipFill>
        <p:spPr>
          <a:xfrm rot="5400000">
            <a:off x="3744469" y="4393431"/>
            <a:ext cx="2614661" cy="1143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7" t="37808" r="57223" b="54375"/>
          <a:stretch/>
        </p:blipFill>
        <p:spPr>
          <a:xfrm rot="5400000">
            <a:off x="5279204" y="4464867"/>
            <a:ext cx="2614662" cy="10001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17554" y="6419088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Blue- violet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0" y="6419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Blue- green (cyan)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641841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5" t="30247" r="37777" b="24321"/>
          <a:stretch/>
        </p:blipFill>
        <p:spPr>
          <a:xfrm rot="5400000">
            <a:off x="7238094" y="4076699"/>
            <a:ext cx="1905001" cy="1752601"/>
          </a:xfrm>
          <a:prstGeom prst="rect">
            <a:avLst/>
          </a:prstGeom>
        </p:spPr>
      </p:pic>
      <p:cxnSp>
        <p:nvCxnSpPr>
          <p:cNvPr id="13" name="Straight Connector 12"/>
          <p:cNvCxnSpPr>
            <a:stCxn id="3" idx="3"/>
          </p:cNvCxnSpPr>
          <p:nvPr/>
        </p:nvCxnSpPr>
        <p:spPr>
          <a:xfrm flipH="1">
            <a:off x="7549771" y="3848100"/>
            <a:ext cx="1383917" cy="24003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78914" y="6400799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347831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498080" cy="1143000"/>
          </a:xfrm>
        </p:spPr>
        <p:txBody>
          <a:bodyPr/>
          <a:lstStyle/>
          <a:p>
            <a:r>
              <a:rPr lang="en-US" dirty="0"/>
              <a:t>Equipment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493416"/>
            <a:ext cx="5305425" cy="629497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40B3900-EE00-A049-9655-1C83F33A1D7A}"/>
              </a:ext>
            </a:extLst>
          </p:cNvPr>
          <p:cNvSpPr/>
          <p:nvPr/>
        </p:nvSpPr>
        <p:spPr>
          <a:xfrm>
            <a:off x="4267200" y="1457739"/>
            <a:ext cx="838200" cy="45720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F8681F-5556-1143-AC47-14304707C3E8}"/>
              </a:ext>
            </a:extLst>
          </p:cNvPr>
          <p:cNvSpPr/>
          <p:nvPr/>
        </p:nvSpPr>
        <p:spPr>
          <a:xfrm>
            <a:off x="6272212" y="1636416"/>
            <a:ext cx="1195388" cy="420756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C7A24C-8D16-284B-9B49-4C60EFDB89FE}"/>
              </a:ext>
            </a:extLst>
          </p:cNvPr>
          <p:cNvSpPr/>
          <p:nvPr/>
        </p:nvSpPr>
        <p:spPr>
          <a:xfrm>
            <a:off x="5486400" y="3791648"/>
            <a:ext cx="1488282" cy="323152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208375-4929-BC4E-B8FC-19C80F0BCAA1}"/>
              </a:ext>
            </a:extLst>
          </p:cNvPr>
          <p:cNvSpPr/>
          <p:nvPr/>
        </p:nvSpPr>
        <p:spPr>
          <a:xfrm>
            <a:off x="7162800" y="5257800"/>
            <a:ext cx="1195388" cy="30480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B412D0-BB21-DC4F-9D33-47B2EBC39249}"/>
              </a:ext>
            </a:extLst>
          </p:cNvPr>
          <p:cNvSpPr/>
          <p:nvPr/>
        </p:nvSpPr>
        <p:spPr>
          <a:xfrm>
            <a:off x="1040711" y="3162300"/>
            <a:ext cx="3074089" cy="323850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 the grating table (usually 0.2º is enough) if your angle on the left deviates too much (1º) to your right angle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0B3C8D-8A09-4F4D-9A7A-392DA06603BE}"/>
              </a:ext>
            </a:extLst>
          </p:cNvPr>
          <p:cNvSpPr/>
          <p:nvPr/>
        </p:nvSpPr>
        <p:spPr>
          <a:xfrm>
            <a:off x="4216470" y="4343400"/>
            <a:ext cx="1422330" cy="30480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6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76600" y="890954"/>
                <a:ext cx="4038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=1)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890954"/>
                <a:ext cx="4038600" cy="523220"/>
              </a:xfrm>
              <a:prstGeom prst="rect">
                <a:avLst/>
              </a:prstGeom>
              <a:blipFill>
                <a:blip r:embed="rId3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1435608" y="1295400"/>
                <a:ext cx="7498080" cy="5410200"/>
              </a:xfrm>
              <a:prstGeom prst="rect">
                <a:avLst/>
              </a:prstGeom>
            </p:spPr>
            <p:txBody>
              <a:bodyPr anchor="ctr">
                <a:normAutofit lnSpcReduction="10000"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300" kern="1200">
                    <a:solidFill>
                      <a:schemeClr val="tx2">
                        <a:satMod val="130000"/>
                      </a:schemeClr>
                    </a:solidFill>
                    <a:effectLst>
                      <a:outerShdw blurRad="50000" dist="30000" dir="5400000" algn="tl" rotWithShape="0">
                        <a:srgbClr val="000000">
                          <a:alpha val="30000"/>
                        </a:srgbClr>
                      </a:outerShdw>
                    </a:effectLst>
                    <a:latin typeface="+mj-lt"/>
                    <a:ea typeface="+mj-ea"/>
                    <a:cs typeface="+mj-cs"/>
                  </a:defRPr>
                </a:lvl1pPr>
                <a:extLst/>
              </a:lstStyle>
              <a:p>
                <a:r>
                  <a:rPr lang="en-US" sz="3200" dirty="0"/>
                  <a:t>Calibration (Cadmium lamp)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Know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Measure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 (line spacing of the diffraction grating)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u(d) from </a:t>
                </a:r>
                <a:r>
                  <a:rPr lang="en-US" sz="2800" dirty="0" smtClean="0">
                    <a:solidFill>
                      <a:schemeClr val="tx1"/>
                    </a:solidFill>
                    <a:effectLst/>
                  </a:rPr>
                  <a:t>slope</a:t>
                </a:r>
              </a:p>
              <a:p>
                <a:endParaRPr lang="en-US" sz="1800" dirty="0">
                  <a:solidFill>
                    <a:schemeClr val="tx1"/>
                  </a:solidFill>
                  <a:effectLst/>
                </a:endParaRPr>
              </a:p>
              <a:p>
                <a:r>
                  <a:rPr lang="en-US" sz="3200" dirty="0" err="1"/>
                  <a:t>Balmer</a:t>
                </a:r>
                <a:r>
                  <a:rPr lang="en-US" sz="3200" dirty="0"/>
                  <a:t> Series (Hydrogen lamp)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Know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 from calibration (or line spacing)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Measure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Calculate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effectLst/>
                </a:endParaRPr>
              </a:p>
              <a:p>
                <a:r>
                  <a:rPr lang="en-US" sz="3200" dirty="0"/>
                  <a:t>Rydberg Constant (Hydrogen lamp)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Know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s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effectLst/>
                  </a:rPr>
                  <a:t>Find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effectLst/>
                  </a:rPr>
                  <a:t> </a:t>
                </a:r>
                <a:endParaRPr lang="en-US" sz="2800" dirty="0">
                  <a:solidFill>
                    <a:schemeClr val="tx1"/>
                  </a:solidFill>
                  <a:effectLst/>
                </a:endParaRPr>
              </a:p>
              <a:p>
                <a:endParaRPr lang="en-US" sz="18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08" y="1295400"/>
                <a:ext cx="7498080" cy="5410200"/>
              </a:xfrm>
              <a:prstGeom prst="rect">
                <a:avLst/>
              </a:prstGeom>
              <a:blipFill>
                <a:blip r:embed="rId4"/>
                <a:stretch>
                  <a:fillRect l="-2520" t="-4397" b="-33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6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14400"/>
            <a:ext cx="5509953" cy="5715000"/>
          </a:xfrm>
        </p:spPr>
        <p:txBody>
          <a:bodyPr>
            <a:normAutofit/>
          </a:bodyPr>
          <a:lstStyle/>
          <a:p>
            <a:r>
              <a:rPr lang="en-CA" altLang="en-US" sz="2800" dirty="0"/>
              <a:t>Make the adjustments and calibrate the spectroscope (see lab write-up)</a:t>
            </a:r>
          </a:p>
          <a:p>
            <a:r>
              <a:rPr lang="en-CA" altLang="en-US" sz="2800" dirty="0"/>
              <a:t>For maximum sensitivity ensure that as much light </a:t>
            </a:r>
            <a:r>
              <a:rPr lang="en-CA" altLang="en-US" sz="2800" dirty="0" smtClean="0"/>
              <a:t>enters </a:t>
            </a:r>
            <a:r>
              <a:rPr lang="en-CA" altLang="en-US" sz="2800" dirty="0"/>
              <a:t>the spectroscope through the aperture (slit) as possible </a:t>
            </a:r>
          </a:p>
          <a:p>
            <a:r>
              <a:rPr lang="en-CA" altLang="en-US" sz="2800" dirty="0"/>
              <a:t>Maximize the intensity of the central maximum by positioning the collimator (slit) directly in front of the light source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4" name="Picture 5" descr="C:\Users\Marzena\mki\Lab_1Y\W2014\PHYS 1070_W2014\Pictures\Exp_5\DSCN1383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" b="23409"/>
          <a:stretch/>
        </p:blipFill>
        <p:spPr bwMode="auto">
          <a:xfrm rot="5400000">
            <a:off x="5406044" y="2389909"/>
            <a:ext cx="4876800" cy="253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7844444" y="3657600"/>
            <a:ext cx="689956" cy="76200"/>
          </a:xfrm>
          <a:prstGeom prst="straightConnector1">
            <a:avLst/>
          </a:prstGeom>
          <a:ln w="381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4" t="46667" r="58727" b="41333"/>
          <a:stretch/>
        </p:blipFill>
        <p:spPr>
          <a:xfrm rot="5400000">
            <a:off x="7580928" y="5043334"/>
            <a:ext cx="1829359" cy="11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Measure the position of  4 pairs of equivalent lines to the left and to the right of the central maximum (for lines in first order)</a:t>
            </a:r>
            <a:endParaRPr lang="en-US" dirty="0"/>
          </a:p>
        </p:txBody>
      </p:sp>
      <p:pic>
        <p:nvPicPr>
          <p:cNvPr id="2051" name="Picture 3" descr="C:\Users\Marzena\mki\Lab_1Y\W2014\PHYS 1070_W2014\Pictures\Exp_5\DSCN138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51" t="30808" r="25681" b="18485"/>
          <a:stretch/>
        </p:blipFill>
        <p:spPr bwMode="auto">
          <a:xfrm>
            <a:off x="3124200" y="3505200"/>
            <a:ext cx="3854234" cy="3049385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2" t="42631" r="64186" b="47884"/>
          <a:stretch/>
        </p:blipFill>
        <p:spPr>
          <a:xfrm rot="5400000">
            <a:off x="-458175" y="1601175"/>
            <a:ext cx="2440350" cy="10668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H="1">
            <a:off x="872836" y="914400"/>
            <a:ext cx="1" cy="23940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 flipH="1">
            <a:off x="762000" y="1677375"/>
            <a:ext cx="1" cy="914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419600" y="3505200"/>
            <a:ext cx="914400" cy="6858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21.7⁰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267200" y="4038600"/>
            <a:ext cx="3810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029200" y="4038600"/>
            <a:ext cx="250717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8600" y="3545249"/>
            <a:ext cx="1981200" cy="300933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sure that you can see the crosshairs before reading the angle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872836" y="2164144"/>
            <a:ext cx="562772" cy="16839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7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Turn off the discharge tube as soon as your measurements of the hydrogen spectrum are completed</a:t>
            </a:r>
          </a:p>
          <a:p>
            <a:r>
              <a:rPr lang="en-CA" dirty="0"/>
              <a:t>Cadmium lamp should warm up about 15 min </a:t>
            </a:r>
          </a:p>
          <a:p>
            <a:r>
              <a:rPr lang="en-CA" dirty="0"/>
              <a:t>Do not touch or clear any of the lenses or diffraction grating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8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data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Demonstrate to your TA that you’ve calibrated the spectroscope before measuring Hydrogen </a:t>
            </a:r>
            <a:r>
              <a:rPr lang="en-US" dirty="0" err="1"/>
              <a:t>Balmer</a:t>
            </a:r>
            <a:r>
              <a:rPr lang="en-US" dirty="0"/>
              <a:t> Series</a:t>
            </a:r>
          </a:p>
          <a:p>
            <a:r>
              <a:rPr lang="en-US" dirty="0"/>
              <a:t>Use excel template from D2L to record all data and do calculations.</a:t>
            </a:r>
          </a:p>
          <a:p>
            <a:r>
              <a:rPr lang="en-US" dirty="0"/>
              <a:t>For the line fitting part, please use the template from D2L (line fitting template), save the plots for your lab report</a:t>
            </a:r>
            <a:r>
              <a:rPr lang="en-US" dirty="0" smtClean="0"/>
              <a:t>.</a:t>
            </a:r>
          </a:p>
          <a:p>
            <a:r>
              <a:rPr lang="en-US" dirty="0" smtClean="0"/>
              <a:t>Upload all the excels to D2L</a:t>
            </a:r>
            <a:endParaRPr lang="en-US" dirty="0"/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41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Data Analysis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405348"/>
                <a:ext cx="8001000" cy="545265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CA" dirty="0" smtClean="0"/>
                  <a:t>Calibration using Cadmium: </a:t>
                </a:r>
              </a:p>
              <a:p>
                <a:pPr lvl="1"/>
                <a:r>
                  <a:rPr lang="en-CA" dirty="0" smtClean="0"/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CA" dirty="0"/>
                          <m:t>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𝑡h𝑒𝑜𝑟𝑒𝑡𝑖𝑐𝑎𝑙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CA" dirty="0" smtClean="0"/>
                  <a:t>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i="0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i="1" dirty="0" smtClean="0"/>
                  <a:t> to </a:t>
                </a:r>
                <a:r>
                  <a:rPr lang="en-CA" dirty="0" smtClean="0"/>
                  <a:t>get experimental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CA" dirty="0" smtClean="0"/>
                  <a:t> and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 smtClean="0"/>
              </a:p>
              <a:p>
                <a:r>
                  <a:rPr lang="en-CA" dirty="0" smtClean="0"/>
                  <a:t>Hydrogen lamp: </a:t>
                </a:r>
              </a:p>
              <a:p>
                <a:pPr lvl="1"/>
                <a:r>
                  <a:rPr lang="en-CA" dirty="0" smtClean="0"/>
                  <a:t>use the </a:t>
                </a:r>
                <a:r>
                  <a:rPr lang="en-CA" dirty="0"/>
                  <a:t>experimental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CA" dirty="0"/>
                  <a:t> </a:t>
                </a:r>
                <a:r>
                  <a:rPr lang="en-CA" dirty="0" smtClean="0"/>
                  <a:t>to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𝑐𝑎𝑙</m:t>
                        </m:r>
                      </m:sub>
                    </m:sSub>
                  </m:oMath>
                </a14:m>
                <a:r>
                  <a:rPr lang="en-CA" dirty="0" smtClean="0"/>
                  <a:t>; </a:t>
                </a:r>
              </a:p>
              <a:p>
                <a:pPr lvl="1"/>
                <a:r>
                  <a:rPr lang="en-CA" dirty="0" smtClean="0"/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CA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𝑐𝑎𝑙</m:t>
                            </m:r>
                          </m:sub>
                        </m:sSub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CA" dirty="0" smtClean="0"/>
                  <a:t>vs.</a:t>
                </a:r>
                <a:r>
                  <a:rPr lang="en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CA" dirty="0"/>
                      <m:t> </m:t>
                    </m:r>
                  </m:oMath>
                </a14:m>
                <a:r>
                  <a:rPr lang="en-CA" dirty="0" smtClean="0"/>
                  <a:t>to get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CA" dirty="0" smtClean="0"/>
                  <a:t>; </a:t>
                </a:r>
              </a:p>
              <a:p>
                <a:pPr lvl="1"/>
                <a:r>
                  <a:rPr lang="en-CA" dirty="0" smtClean="0"/>
                  <a:t>calculate ionization energy for hydrogen</a:t>
                </a:r>
                <a:endParaRPr lang="en-CA" dirty="0"/>
              </a:p>
              <a:p>
                <a:r>
                  <a:rPr lang="en-CA" dirty="0" smtClean="0"/>
                  <a:t>Compare experimental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CA" i="1" dirty="0" smtClean="0"/>
                  <a:t>,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CA" i="1" dirty="0" smtClean="0"/>
                  <a:t>, </a:t>
                </a:r>
                <a:r>
                  <a:rPr lang="en-CA" dirty="0" smtClean="0"/>
                  <a:t>and ionization energy with theoretical values*</a:t>
                </a:r>
              </a:p>
              <a:p>
                <a:endParaRPr lang="en-CA" dirty="0" smtClean="0"/>
              </a:p>
              <a:p>
                <a:pPr marL="82296" indent="0">
                  <a:buNone/>
                </a:pPr>
                <a:r>
                  <a:rPr lang="en-CA" i="1" dirty="0" smtClean="0"/>
                  <a:t>* When you use theoretical values, please reference the source</a:t>
                </a:r>
                <a:endParaRPr lang="en-CA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1405348"/>
                <a:ext cx="8001000" cy="5452652"/>
              </a:xfrm>
              <a:blipFill>
                <a:blip r:embed="rId3"/>
                <a:stretch>
                  <a:fillRect l="-762" t="-2237" r="-1753" b="-257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76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Reference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 smtClean="0"/>
                  <a:t>The cadmium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nor/>
                          </m:rPr>
                          <a:rPr lang="en-CA" dirty="0"/>
                          <m:t> 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𝑡h𝑒𝑜𝑟𝑒𝑡𝑖𝑐𝑎𝑙</m:t>
                        </m:r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CA" dirty="0" smtClean="0"/>
                  <a:t> is from: </a:t>
                </a:r>
              </a:p>
              <a:p>
                <a:endParaRPr lang="en-CA" dirty="0" smtClean="0"/>
              </a:p>
              <a:p>
                <a:pPr lvl="1"/>
                <a:r>
                  <a:rPr lang="en-CA" dirty="0"/>
                  <a:t>J</a:t>
                </a:r>
                <a:r>
                  <a:rPr lang="en-CA" dirty="0" smtClean="0"/>
                  <a:t>. E. </a:t>
                </a:r>
                <a:r>
                  <a:rPr lang="en-CA" dirty="0" err="1" smtClean="0"/>
                  <a:t>Sansonetti</a:t>
                </a:r>
                <a:r>
                  <a:rPr lang="en-CA" dirty="0" smtClean="0"/>
                  <a:t> and W. C.  Martin</a:t>
                </a:r>
                <a:r>
                  <a:rPr lang="en-CA" dirty="0"/>
                  <a:t>. Handbook of basic atomic spectroscopic data – strong lines of sodium reference. </a:t>
                </a:r>
                <a:r>
                  <a:rPr lang="en-CA" dirty="0" smtClean="0"/>
                  <a:t>Technical report,  National Institute of Standard and Technology; 2005. </a:t>
                </a:r>
                <a:endParaRPr lang="en-CA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52" r="-268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21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1799</TotalTime>
  <Words>401</Words>
  <Application>Microsoft Office PowerPoint</Application>
  <PresentationFormat>On-screen Show (4:3)</PresentationFormat>
  <Paragraphs>76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Gill Sans MT</vt:lpstr>
      <vt:lpstr>Verdana</vt:lpstr>
      <vt:lpstr>Wingdings 2</vt:lpstr>
      <vt:lpstr>Solstice</vt:lpstr>
      <vt:lpstr>PHYS 365</vt:lpstr>
      <vt:lpstr>Objective</vt:lpstr>
      <vt:lpstr>Spectral lines</vt:lpstr>
      <vt:lpstr>Equipment</vt:lpstr>
      <vt:lpstr>Procedure</vt:lpstr>
      <vt:lpstr>Calibration</vt:lpstr>
      <vt:lpstr>Procedure</vt:lpstr>
      <vt:lpstr>Warning</vt:lpstr>
      <vt:lpstr>Lab data template</vt:lpstr>
      <vt:lpstr>Data Analysis</vt:lpstr>
      <vt:lpstr>Reference</vt:lpstr>
    </vt:vector>
  </TitlesOfParts>
  <Company>University of Manitoba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1070</dc:title>
  <dc:creator>Marzena</dc:creator>
  <cp:lastModifiedBy>Lingyue Sun</cp:lastModifiedBy>
  <cp:revision>99</cp:revision>
  <dcterms:created xsi:type="dcterms:W3CDTF">2014-02-21T20:48:20Z</dcterms:created>
  <dcterms:modified xsi:type="dcterms:W3CDTF">2019-11-01T21:15:48Z</dcterms:modified>
</cp:coreProperties>
</file>