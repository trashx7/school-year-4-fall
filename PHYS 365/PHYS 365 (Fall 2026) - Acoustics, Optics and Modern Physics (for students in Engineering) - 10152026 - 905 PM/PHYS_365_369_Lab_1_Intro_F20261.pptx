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9"/>
  </p:notesMasterIdLst>
  <p:sldIdLst>
    <p:sldId id="298" r:id="rId2"/>
    <p:sldId id="273" r:id="rId3"/>
    <p:sldId id="274" r:id="rId4"/>
    <p:sldId id="275" r:id="rId5"/>
    <p:sldId id="296" r:id="rId6"/>
    <p:sldId id="300" r:id="rId7"/>
    <p:sldId id="308" r:id="rId8"/>
    <p:sldId id="297" r:id="rId9"/>
    <p:sldId id="278" r:id="rId10"/>
    <p:sldId id="290" r:id="rId11"/>
    <p:sldId id="285" r:id="rId12"/>
    <p:sldId id="284" r:id="rId13"/>
    <p:sldId id="307" r:id="rId14"/>
    <p:sldId id="288" r:id="rId15"/>
    <p:sldId id="287" r:id="rId16"/>
    <p:sldId id="299" r:id="rId17"/>
    <p:sldId id="295" r:id="rId18"/>
    <p:sldId id="276" r:id="rId19"/>
    <p:sldId id="304" r:id="rId20"/>
    <p:sldId id="305" r:id="rId21"/>
    <p:sldId id="283" r:id="rId22"/>
    <p:sldId id="302" r:id="rId23"/>
    <p:sldId id="303" r:id="rId24"/>
    <p:sldId id="301" r:id="rId25"/>
    <p:sldId id="270" r:id="rId26"/>
    <p:sldId id="271" r:id="rId27"/>
    <p:sldId id="306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36"/>
    <p:restoredTop sz="84932" autoAdjust="0"/>
  </p:normalViewPr>
  <p:slideViewPr>
    <p:cSldViewPr>
      <p:cViewPr varScale="1">
        <p:scale>
          <a:sx n="107" d="100"/>
          <a:sy n="107" d="100"/>
        </p:scale>
        <p:origin x="2472" y="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2E8FF5-3986-4619-ADB6-264CAEACF998}" type="datetimeFigureOut">
              <a:rPr lang="en-US" smtClean="0"/>
              <a:t>9/3/25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99528E-D9AF-4DA1-ACF9-4D645755BA0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11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you can see a safe</a:t>
            </a:r>
            <a:r>
              <a:rPr lang="en-US" baseline="0" dirty="0"/>
              <a:t> bridge vs a steel bridge that collapses into the river! </a:t>
            </a:r>
            <a:endParaRPr lang="en-US" dirty="0"/>
          </a:p>
          <a:p>
            <a:r>
              <a:rPr lang="en-US" dirty="0"/>
              <a:t>“Part of a professional approach to engineering is understanding</a:t>
            </a:r>
            <a:r>
              <a:rPr lang="en-US" baseline="0" dirty="0"/>
              <a:t> and quantifying uncertainty in your measurements.” (from measurement uncertainty document by Chris Cully)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99528E-D9AF-4DA1-ACF9-4D645755BA0A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13805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99528E-D9AF-4DA1-ACF9-4D645755BA0A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0064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88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 dirty="0"/>
              <a:t>We do not know the true value, we are just estimating within uncertainty.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‘true’ value of a measurement is the value that would be obtained by a perfect measurement, i.e. in an ideal world. As the true value is not known, accuracy is a qualitative term only. </a:t>
            </a:r>
            <a:endParaRPr lang="en-US" altLang="en-US" dirty="0"/>
          </a:p>
        </p:txBody>
      </p:sp>
      <p:sp>
        <p:nvSpPr>
          <p:cNvPr id="52228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Gill Sans MT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ill Sans MT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ill Sans MT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ill Sans MT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ill Sans MT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3FC4889-0AE6-4D29-801C-2D11965D3E94}" type="slidenum">
              <a:rPr lang="en-US" altLang="en-US" smtClean="0">
                <a:latin typeface="Calibri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12</a:t>
            </a:fld>
            <a:endParaRPr lang="en-US" altLang="en-US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46479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human reaction time: use the template provided in D2L(TA folders), enter recorded times for</a:t>
            </a:r>
            <a:r>
              <a:rPr lang="en-US" baseline="0" dirty="0"/>
              <a:t> the whole class</a:t>
            </a:r>
            <a:r>
              <a:rPr lang="en-US" dirty="0"/>
              <a:t> and it will give you standard deviation and uncertainty. Display it on the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99528E-D9AF-4DA1-ACF9-4D645755BA0A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63548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are</a:t>
            </a:r>
            <a:r>
              <a:rPr lang="en-US" baseline="0" dirty="0"/>
              <a:t> going to plot the results for 4</a:t>
            </a:r>
            <a:r>
              <a:rPr lang="en-US" baseline="30000" dirty="0"/>
              <a:t>th</a:t>
            </a:r>
            <a:r>
              <a:rPr lang="en-US" baseline="0" dirty="0"/>
              <a:t> method(pendulum with various lengths). In the template there are 2 sheets: LINEST &amp; Fit with Uncertainty and we should select which one to use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99528E-D9AF-4DA1-ACF9-4D645755BA0A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99572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99528E-D9AF-4DA1-ACF9-4D645755BA0A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50786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78E68-D4F7-4A2B-9146-5375FAA220FD}" type="datetimeFigureOut">
              <a:rPr lang="en-US" smtClean="0">
                <a:solidFill>
                  <a:srgbClr val="E7DEC9">
                    <a:shade val="50000"/>
                    <a:satMod val="200000"/>
                  </a:srgbClr>
                </a:solidFill>
              </a:rPr>
              <a:pPr/>
              <a:t>9/3/25</a:t>
            </a:fld>
            <a:endParaRPr lang="en-US" dirty="0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1448C-9630-4E78-B195-103BA62ABEAD}" type="slidenum">
              <a:rPr lang="en-US" smtClean="0">
                <a:solidFill>
                  <a:srgbClr val="E7DEC9">
                    <a:shade val="50000"/>
                    <a:satMod val="200000"/>
                  </a:srgbClr>
                </a:solidFill>
              </a:rPr>
              <a:pPr/>
              <a:t>‹#›</a:t>
            </a:fld>
            <a:endParaRPr lang="en-US" dirty="0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7049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78E68-D4F7-4A2B-9146-5375FAA220FD}" type="datetimeFigureOut">
              <a:rPr lang="en-US" smtClean="0">
                <a:solidFill>
                  <a:srgbClr val="E7DEC9">
                    <a:shade val="50000"/>
                    <a:satMod val="200000"/>
                  </a:srgbClr>
                </a:solidFill>
              </a:rPr>
              <a:pPr/>
              <a:t>9/3/25</a:t>
            </a:fld>
            <a:endParaRPr lang="en-US" dirty="0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1448C-9630-4E78-B195-103BA62ABEAD}" type="slidenum">
              <a:rPr lang="en-US" smtClean="0">
                <a:solidFill>
                  <a:srgbClr val="E7DEC9">
                    <a:shade val="50000"/>
                    <a:satMod val="200000"/>
                  </a:srgbClr>
                </a:solidFill>
              </a:rPr>
              <a:pPr/>
              <a:t>‹#›</a:t>
            </a:fld>
            <a:endParaRPr lang="en-US" dirty="0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7917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78E68-D4F7-4A2B-9146-5375FAA220FD}" type="datetimeFigureOut">
              <a:rPr lang="en-US" smtClean="0">
                <a:solidFill>
                  <a:srgbClr val="E7DEC9">
                    <a:shade val="50000"/>
                    <a:satMod val="200000"/>
                  </a:srgbClr>
                </a:solidFill>
              </a:rPr>
              <a:pPr/>
              <a:t>9/3/25</a:t>
            </a:fld>
            <a:endParaRPr lang="en-US" dirty="0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1448C-9630-4E78-B195-103BA62ABEAD}" type="slidenum">
              <a:rPr lang="en-US" smtClean="0">
                <a:solidFill>
                  <a:srgbClr val="E7DEC9">
                    <a:shade val="50000"/>
                    <a:satMod val="200000"/>
                  </a:srgbClr>
                </a:solidFill>
              </a:rPr>
              <a:pPr/>
              <a:t>‹#›</a:t>
            </a:fld>
            <a:endParaRPr lang="en-US" dirty="0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0688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78E68-D4F7-4A2B-9146-5375FAA220FD}" type="datetimeFigureOut">
              <a:rPr lang="en-US" smtClean="0">
                <a:solidFill>
                  <a:srgbClr val="E7DEC9">
                    <a:shade val="50000"/>
                    <a:satMod val="200000"/>
                  </a:srgbClr>
                </a:solidFill>
              </a:rPr>
              <a:pPr/>
              <a:t>9/3/25</a:t>
            </a:fld>
            <a:endParaRPr lang="en-US" dirty="0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1448C-9630-4E78-B195-103BA62ABEAD}" type="slidenum">
              <a:rPr lang="en-US" smtClean="0">
                <a:solidFill>
                  <a:srgbClr val="E7DEC9">
                    <a:shade val="50000"/>
                    <a:satMod val="200000"/>
                  </a:srgbClr>
                </a:solidFill>
              </a:rPr>
              <a:pPr/>
              <a:t>‹#›</a:t>
            </a:fld>
            <a:endParaRPr lang="en-US" dirty="0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44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78E68-D4F7-4A2B-9146-5375FAA220FD}" type="datetimeFigureOut">
              <a:rPr lang="en-US" smtClean="0">
                <a:solidFill>
                  <a:srgbClr val="E7DEC9">
                    <a:shade val="50000"/>
                    <a:satMod val="200000"/>
                  </a:srgbClr>
                </a:solidFill>
              </a:rPr>
              <a:pPr/>
              <a:t>9/3/25</a:t>
            </a:fld>
            <a:endParaRPr lang="en-US" dirty="0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1448C-9630-4E78-B195-103BA62ABEAD}" type="slidenum">
              <a:rPr lang="en-US" smtClean="0">
                <a:solidFill>
                  <a:srgbClr val="E7DEC9">
                    <a:shade val="50000"/>
                    <a:satMod val="200000"/>
                  </a:srgbClr>
                </a:solidFill>
              </a:rPr>
              <a:pPr/>
              <a:t>‹#›</a:t>
            </a:fld>
            <a:endParaRPr lang="en-US" dirty="0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297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78E68-D4F7-4A2B-9146-5375FAA220FD}" type="datetimeFigureOut">
              <a:rPr lang="en-US" smtClean="0">
                <a:solidFill>
                  <a:srgbClr val="E7DEC9">
                    <a:shade val="50000"/>
                    <a:satMod val="200000"/>
                  </a:srgbClr>
                </a:solidFill>
              </a:rPr>
              <a:pPr/>
              <a:t>9/3/25</a:t>
            </a:fld>
            <a:endParaRPr lang="en-US" dirty="0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1448C-9630-4E78-B195-103BA62ABEAD}" type="slidenum">
              <a:rPr lang="en-US" smtClean="0">
                <a:solidFill>
                  <a:srgbClr val="E7DEC9">
                    <a:shade val="50000"/>
                    <a:satMod val="200000"/>
                  </a:srgbClr>
                </a:solidFill>
              </a:rPr>
              <a:pPr/>
              <a:t>‹#›</a:t>
            </a:fld>
            <a:endParaRPr lang="en-US" dirty="0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6182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78E68-D4F7-4A2B-9146-5375FAA220FD}" type="datetimeFigureOut">
              <a:rPr lang="en-US" smtClean="0">
                <a:solidFill>
                  <a:srgbClr val="E7DEC9">
                    <a:shade val="50000"/>
                    <a:satMod val="200000"/>
                  </a:srgbClr>
                </a:solidFill>
              </a:rPr>
              <a:pPr/>
              <a:t>9/3/25</a:t>
            </a:fld>
            <a:endParaRPr lang="en-US" dirty="0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1448C-9630-4E78-B195-103BA62ABEAD}" type="slidenum">
              <a:rPr lang="en-US" smtClean="0">
                <a:solidFill>
                  <a:srgbClr val="E7DEC9">
                    <a:shade val="50000"/>
                    <a:satMod val="200000"/>
                  </a:srgbClr>
                </a:solidFill>
              </a:rPr>
              <a:pPr/>
              <a:t>‹#›</a:t>
            </a:fld>
            <a:endParaRPr lang="en-US" dirty="0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516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78E68-D4F7-4A2B-9146-5375FAA220FD}" type="datetimeFigureOut">
              <a:rPr lang="en-US" smtClean="0">
                <a:solidFill>
                  <a:srgbClr val="E7DEC9">
                    <a:shade val="50000"/>
                    <a:satMod val="200000"/>
                  </a:srgbClr>
                </a:solidFill>
              </a:rPr>
              <a:pPr/>
              <a:t>9/3/25</a:t>
            </a:fld>
            <a:endParaRPr lang="en-US" dirty="0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1448C-9630-4E78-B195-103BA62ABEAD}" type="slidenum">
              <a:rPr lang="en-US" smtClean="0">
                <a:solidFill>
                  <a:srgbClr val="E7DEC9">
                    <a:shade val="50000"/>
                    <a:satMod val="200000"/>
                  </a:srgbClr>
                </a:solidFill>
              </a:rPr>
              <a:pPr/>
              <a:t>‹#›</a:t>
            </a:fld>
            <a:endParaRPr lang="en-US" dirty="0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8971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78E68-D4F7-4A2B-9146-5375FAA220FD}" type="datetimeFigureOut">
              <a:rPr lang="en-US" smtClean="0">
                <a:solidFill>
                  <a:srgbClr val="E7DEC9">
                    <a:shade val="50000"/>
                    <a:satMod val="200000"/>
                  </a:srgbClr>
                </a:solidFill>
              </a:rPr>
              <a:pPr/>
              <a:t>9/3/25</a:t>
            </a:fld>
            <a:endParaRPr lang="en-US" dirty="0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1448C-9630-4E78-B195-103BA62ABEAD}" type="slidenum">
              <a:rPr lang="en-US" smtClean="0">
                <a:solidFill>
                  <a:srgbClr val="E7DEC9">
                    <a:shade val="50000"/>
                    <a:satMod val="200000"/>
                  </a:srgbClr>
                </a:solidFill>
              </a:rPr>
              <a:pPr/>
              <a:t>‹#›</a:t>
            </a:fld>
            <a:endParaRPr lang="en-US" dirty="0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indent="-283464">
              <a:lnSpc>
                <a:spcPts val="3000"/>
              </a:lnSpc>
              <a:spcBef>
                <a:spcPts val="600"/>
              </a:spcBef>
              <a:buClr>
                <a:srgbClr val="3891A7"/>
              </a:buClr>
              <a:buSzPct val="80000"/>
              <a:buFont typeface="Wingdings 2"/>
              <a:buNone/>
            </a:pPr>
            <a:endParaRPr lang="en-US" sz="3200" dirty="0">
              <a:solidFill>
                <a:prstClr val="black"/>
              </a:solidFill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dirty="0"/>
              <a:t>Click icon to add picture</a:t>
            </a:r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84386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78E68-D4F7-4A2B-9146-5375FAA220FD}" type="datetimeFigureOut">
              <a:rPr lang="en-US" smtClean="0">
                <a:solidFill>
                  <a:srgbClr val="E7DEC9">
                    <a:shade val="50000"/>
                    <a:satMod val="200000"/>
                  </a:srgbClr>
                </a:solidFill>
              </a:rPr>
              <a:pPr/>
              <a:t>9/3/25</a:t>
            </a:fld>
            <a:endParaRPr lang="en-US" dirty="0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1448C-9630-4E78-B195-103BA62ABEAD}" type="slidenum">
              <a:rPr lang="en-US" smtClean="0">
                <a:solidFill>
                  <a:srgbClr val="E7DEC9">
                    <a:shade val="50000"/>
                    <a:satMod val="200000"/>
                  </a:srgbClr>
                </a:solidFill>
              </a:rPr>
              <a:pPr/>
              <a:t>‹#›</a:t>
            </a:fld>
            <a:endParaRPr lang="en-US" dirty="0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2060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78E68-D4F7-4A2B-9146-5375FAA220FD}" type="datetimeFigureOut">
              <a:rPr lang="en-US" smtClean="0">
                <a:solidFill>
                  <a:srgbClr val="E7DEC9">
                    <a:shade val="50000"/>
                    <a:satMod val="200000"/>
                  </a:srgbClr>
                </a:solidFill>
              </a:rPr>
              <a:pPr/>
              <a:t>9/3/25</a:t>
            </a:fld>
            <a:endParaRPr lang="en-US" dirty="0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1448C-9630-4E78-B195-103BA62ABEAD}" type="slidenum">
              <a:rPr lang="en-US" smtClean="0">
                <a:solidFill>
                  <a:srgbClr val="E7DEC9">
                    <a:shade val="50000"/>
                    <a:satMod val="200000"/>
                  </a:srgbClr>
                </a:solidFill>
              </a:rPr>
              <a:pPr/>
              <a:t>‹#›</a:t>
            </a:fld>
            <a:endParaRPr lang="en-US" dirty="0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9283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54C78E68-D4F7-4A2B-9146-5375FAA220FD}" type="datetimeFigureOut">
              <a:rPr lang="en-US" smtClean="0">
                <a:solidFill>
                  <a:srgbClr val="E7DEC9">
                    <a:shade val="50000"/>
                    <a:satMod val="200000"/>
                  </a:srgbClr>
                </a:solidFill>
              </a:rPr>
              <a:pPr/>
              <a:t>9/3/25</a:t>
            </a:fld>
            <a:endParaRPr lang="en-US" dirty="0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 dirty="0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4CA1448C-9630-4E78-B195-103BA62ABEAD}" type="slidenum">
              <a:rPr lang="en-US" smtClean="0">
                <a:solidFill>
                  <a:srgbClr val="E7DEC9">
                    <a:shade val="50000"/>
                    <a:satMod val="200000"/>
                  </a:srgbClr>
                </a:solidFill>
              </a:rPr>
              <a:pPr/>
              <a:t>‹#›</a:t>
            </a:fld>
            <a:endParaRPr lang="en-US" dirty="0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712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mo.int/pages/prog/gcos/documents/gruanmanuals/UK_NPL/mgpg11.pdf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39C1A6-2511-825D-1965-BDC79ED87ADD}"/>
              </a:ext>
            </a:extLst>
          </p:cNvPr>
          <p:cNvSpPr txBox="1"/>
          <p:nvPr/>
        </p:nvSpPr>
        <p:spPr>
          <a:xfrm>
            <a:off x="1903821" y="4800600"/>
            <a:ext cx="62910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/>
              <a:t>PHYS 365 &amp; 369 Labs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01FD1A-46A6-089C-52E8-E695A6F56D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885" b="17384"/>
          <a:stretch>
            <a:fillRect/>
          </a:stretch>
        </p:blipFill>
        <p:spPr>
          <a:xfrm>
            <a:off x="1524000" y="381000"/>
            <a:ext cx="7050724" cy="4114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545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Lab rules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Universal rule for ALL the labs!</a:t>
            </a:r>
          </a:p>
        </p:txBody>
      </p:sp>
      <p:pic>
        <p:nvPicPr>
          <p:cNvPr id="10244" name="Picture 2" descr="C:\Users\Marzena\mki\Lab_1Y\no-food-or-drinks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2209800"/>
            <a:ext cx="38862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5" name="Rectangle 3"/>
          <p:cNvSpPr>
            <a:spLocks noChangeArrowheads="1"/>
          </p:cNvSpPr>
          <p:nvPr/>
        </p:nvSpPr>
        <p:spPr bwMode="auto">
          <a:xfrm>
            <a:off x="5486400" y="6488113"/>
            <a:ext cx="34766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ts val="600"/>
              </a:spcBef>
              <a:buClr>
                <a:schemeClr val="accent1"/>
              </a:buClr>
              <a:buSzPct val="80000"/>
              <a:buFont typeface="Wingdings 2" pitchFamily="18" charset="2"/>
              <a:buChar char=""/>
              <a:defRPr sz="3200">
                <a:solidFill>
                  <a:schemeClr val="tx1"/>
                </a:solidFill>
                <a:latin typeface="Gill Sans MT" pitchFamily="34" charset="0"/>
              </a:defRPr>
            </a:lvl1pPr>
            <a:lvl2pPr marL="742950" indent="-285750" algn="l" eaLnBrk="0" hangingPunct="0">
              <a:spcBef>
                <a:spcPts val="550"/>
              </a:spcBef>
              <a:buClr>
                <a:schemeClr val="accent1"/>
              </a:buClr>
              <a:buFont typeface="Verdana" pitchFamily="34" charset="0"/>
              <a:buChar char="◦"/>
              <a:defRPr sz="2800">
                <a:solidFill>
                  <a:schemeClr val="tx1"/>
                </a:solidFill>
                <a:latin typeface="Gill Sans MT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accent2"/>
              </a:buClr>
              <a:buFont typeface="Wingdings 2" pitchFamily="18" charset="2"/>
              <a:buChar char=""/>
              <a:defRPr sz="2400">
                <a:solidFill>
                  <a:schemeClr val="tx1"/>
                </a:solidFill>
                <a:latin typeface="Gill Sans MT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rgbClr val="C32D2E"/>
              </a:buClr>
              <a:buFont typeface="Wingdings 2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rgbClr val="84AA33"/>
              </a:buClr>
              <a:buFont typeface="Wingdings 2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latin typeface="Arial" charset="0"/>
              </a:rPr>
              <a:t>http://www.webweaver.nu/clipart/food1.shtml</a:t>
            </a:r>
          </a:p>
        </p:txBody>
      </p:sp>
    </p:spTree>
    <p:extLst>
      <p:ext uri="{BB962C8B-B14F-4D97-AF65-F5344CB8AC3E}">
        <p14:creationId xmlns:p14="http://schemas.microsoft.com/office/powerpoint/2010/main" val="30246147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Lab rules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>
          <a:xfrm>
            <a:off x="1066800" y="1219200"/>
            <a:ext cx="7924800" cy="5018182"/>
          </a:xfrm>
        </p:spPr>
        <p:txBody>
          <a:bodyPr/>
          <a:lstStyle/>
          <a:p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Come on time </a:t>
            </a:r>
          </a:p>
          <a:p>
            <a:pPr lvl="1"/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Up to 30 min late = -1.0 point (lab report)</a:t>
            </a:r>
          </a:p>
          <a:p>
            <a:pPr lvl="1"/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Over 30 min late = missed lab*</a:t>
            </a:r>
          </a:p>
          <a:p>
            <a:pPr lvl="1"/>
            <a:r>
              <a:rPr lang="en-US" altLang="en-US" sz="2500" dirty="0">
                <a:latin typeface="Arial" panose="020B0604020202020204" pitchFamily="34" charset="0"/>
                <a:cs typeface="Arial" panose="020B0604020202020204" pitchFamily="34" charset="0"/>
              </a:rPr>
              <a:t>If you are sick, you can not participate in the lab. Please notify your TA (email) and submit a “Missed Lab Request”</a:t>
            </a:r>
          </a:p>
        </p:txBody>
      </p:sp>
      <p:pic>
        <p:nvPicPr>
          <p:cNvPr id="11268" name="Picture 2" descr="C:\Users\Marzena\AppData\Local\Microsoft\Windows\Temporary Internet Files\Content.IE5\2K07Q99F\Analog-clock[1]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500" y="4021241"/>
            <a:ext cx="2819400" cy="25621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6674801" y="4559721"/>
            <a:ext cx="213212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*if you have a legitimate excuse, fill-in and submit the form “Missed lab request” on D2L to the Missed Lab Dropbox</a:t>
            </a:r>
          </a:p>
        </p:txBody>
      </p:sp>
    </p:spTree>
    <p:extLst>
      <p:ext uri="{BB962C8B-B14F-4D97-AF65-F5344CB8AC3E}">
        <p14:creationId xmlns:p14="http://schemas.microsoft.com/office/powerpoint/2010/main" val="2396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Lab D2L site</a:t>
            </a:r>
            <a:endParaRPr lang="en-US" dirty="0">
              <a:solidFill>
                <a:schemeClr val="tx2">
                  <a:satMod val="13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1435608" y="1752600"/>
            <a:ext cx="7498080" cy="4724400"/>
          </a:xfrm>
        </p:spPr>
        <p:txBody>
          <a:bodyPr>
            <a:normAutofit fontScale="70000" lnSpcReduction="20000"/>
          </a:bodyPr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6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Contains:</a:t>
            </a:r>
          </a:p>
          <a:p>
            <a:pPr lvl="1">
              <a:lnSpc>
                <a:spcPct val="16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Lab write-ups</a:t>
            </a:r>
          </a:p>
          <a:p>
            <a:pPr lvl="1">
              <a:lnSpc>
                <a:spcPct val="16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Missed lab forms (to be uploaded to the D2L Dropbox within 5 business days of a missed lab)</a:t>
            </a:r>
          </a:p>
          <a:p>
            <a:pPr lvl="1">
              <a:lnSpc>
                <a:spcPct val="16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Pre-lab quizzes (individual submission before Monday at 8:00 AM of the week that you have the lab) and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Dropboxes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to submit Excel templates and lab reports (group submission 7 days after a lab has been completed)</a:t>
            </a:r>
          </a:p>
          <a:p>
            <a:pPr lvl="1">
              <a:lnSpc>
                <a:spcPct val="16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Grades</a:t>
            </a:r>
          </a:p>
          <a:p>
            <a:pPr marL="82296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407032" y="1450975"/>
            <a:ext cx="76607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PHYS 365 LABS - (Fall 2025) – Acoustics, Optics, &amp; Modern Physics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407032" y="1820307"/>
            <a:ext cx="749807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PHYS 369 LABS - (Fall 2025) – Acoustics, Optics, &amp; Radiation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9803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Group 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447800"/>
            <a:ext cx="6946392" cy="5257800"/>
          </a:xfrm>
        </p:spPr>
        <p:txBody>
          <a:bodyPr>
            <a:normAutofit/>
          </a:bodyPr>
          <a:lstStyle/>
          <a:p>
            <a:pPr>
              <a:lnSpc>
                <a:spcPct val="17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Groups of three have been created on D2L.</a:t>
            </a:r>
          </a:p>
          <a:p>
            <a:pPr>
              <a:lnSpc>
                <a:spcPct val="17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These groups are labeled as </a:t>
            </a:r>
            <a:r>
              <a:rPr lang="en-US" sz="20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PHYS 369 B01 </a:t>
            </a: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20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 1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or </a:t>
            </a:r>
            <a:r>
              <a:rPr lang="en-US" sz="20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PHYS 365 B01 - G 1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  </a:t>
            </a:r>
          </a:p>
          <a:p>
            <a:pPr>
              <a:lnSpc>
                <a:spcPct val="17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Each group is linked to a specific Dropbox folder (Assessments/Dropbox). Please locate your lab section and then your group number.  </a:t>
            </a:r>
          </a:p>
          <a:p>
            <a:pPr>
              <a:lnSpc>
                <a:spcPct val="17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Raw data and lab reports must be submitted there no later than one week after the lab.</a:t>
            </a:r>
          </a:p>
        </p:txBody>
      </p:sp>
    </p:spTree>
    <p:extLst>
      <p:ext uri="{BB962C8B-B14F-4D97-AF65-F5344CB8AC3E}">
        <p14:creationId xmlns:p14="http://schemas.microsoft.com/office/powerpoint/2010/main" val="3168687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Tips on working in groups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447800"/>
            <a:ext cx="7022592" cy="4953000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60000"/>
              </a:lnSpc>
            </a:pPr>
            <a:r>
              <a:rPr lang="en-US" sz="3500" b="1" dirty="0">
                <a:latin typeface="Arial" panose="020B0604020202020204" pitchFamily="34" charset="0"/>
                <a:cs typeface="Arial" panose="020B0604020202020204" pitchFamily="34" charset="0"/>
              </a:rPr>
              <a:t>Everyone is responsible for your group success</a:t>
            </a: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, make each member accountable from the very beginning</a:t>
            </a:r>
          </a:p>
          <a:p>
            <a:pPr>
              <a:lnSpc>
                <a:spcPct val="160000"/>
              </a:lnSpc>
            </a:pP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Find time to </a:t>
            </a:r>
            <a:r>
              <a:rPr lang="en-US" sz="3500" b="1" dirty="0">
                <a:latin typeface="Arial" panose="020B0604020202020204" pitchFamily="34" charset="0"/>
                <a:cs typeface="Arial" panose="020B0604020202020204" pitchFamily="34" charset="0"/>
              </a:rPr>
              <a:t>meet and discuss </a:t>
            </a:r>
          </a:p>
          <a:p>
            <a:pPr>
              <a:lnSpc>
                <a:spcPct val="160000"/>
              </a:lnSpc>
            </a:pP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Give yourself time to provide feedback prior to the lab report submission deadline</a:t>
            </a:r>
          </a:p>
          <a:p>
            <a:pPr>
              <a:lnSpc>
                <a:spcPct val="160000"/>
              </a:lnSpc>
            </a:pP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Find the best way to work together: TAs, instructors or coordinator will </a:t>
            </a:r>
            <a:r>
              <a:rPr lang="en-US" sz="3500" b="1" dirty="0">
                <a:latin typeface="Arial" panose="020B0604020202020204" pitchFamily="34" charset="0"/>
                <a:cs typeface="Arial" panose="020B0604020202020204" pitchFamily="34" charset="0"/>
              </a:rPr>
              <a:t>NOT be involved in your group dynamics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0765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2792A-4802-3BB0-648C-CE53D91ED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152400"/>
            <a:ext cx="7498080" cy="1143000"/>
          </a:xfrm>
        </p:spPr>
        <p:txBody>
          <a:bodyPr/>
          <a:lstStyle/>
          <a:p>
            <a:pPr algn="ctr"/>
            <a:r>
              <a:rPr lang="en-US" dirty="0"/>
              <a:t>Form your groups now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55DA0BF-0A2D-0BAE-A74C-4E524BA0DD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5608" y="1447800"/>
            <a:ext cx="7022592" cy="4953000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Form your group of 3</a:t>
            </a:r>
          </a:p>
          <a:p>
            <a:pPr>
              <a:lnSpc>
                <a:spcPct val="16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Let your TA know who is in your group</a:t>
            </a:r>
          </a:p>
          <a:p>
            <a:pPr>
              <a:lnSpc>
                <a:spcPct val="16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Your TA will enroll you into your group on D2L</a:t>
            </a:r>
          </a:p>
          <a:p>
            <a:pPr>
              <a:lnSpc>
                <a:spcPct val="16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Once all groups have been formed and the enrollment process is completed, your TA will continue presenting the details of Lab 1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330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1447800" y="2590800"/>
            <a:ext cx="6720840" cy="609600"/>
          </a:xfrm>
          <a:prstGeom prst="rect">
            <a:avLst/>
          </a:prstGeom>
        </p:spPr>
        <p:txBody>
          <a:bodyPr tIns="0">
            <a:no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ctr"/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Lab 1: Uncertainty in the Pendulum</a:t>
            </a:r>
          </a:p>
        </p:txBody>
      </p:sp>
    </p:spTree>
    <p:extLst>
      <p:ext uri="{BB962C8B-B14F-4D97-AF65-F5344CB8AC3E}">
        <p14:creationId xmlns:p14="http://schemas.microsoft.com/office/powerpoint/2010/main" val="3312895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609600"/>
            <a:ext cx="7498080" cy="5715000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purpose of this experiment is to find the best estimate of acceleration due to gravity, g, and to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determine how accurately it can be estimated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>
              <a:lnSpc>
                <a:spcPct val="150000"/>
              </a:lnSpc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Examine Type A and Type B uncertainties as well as uncertainty propagation </a:t>
            </a:r>
          </a:p>
        </p:txBody>
      </p:sp>
    </p:spTree>
    <p:extLst>
      <p:ext uri="{BB962C8B-B14F-4D97-AF65-F5344CB8AC3E}">
        <p14:creationId xmlns:p14="http://schemas.microsoft.com/office/powerpoint/2010/main" val="13729200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Why do we need uncertainties?</a:t>
            </a:r>
          </a:p>
        </p:txBody>
      </p:sp>
      <p:pic>
        <p:nvPicPr>
          <p:cNvPr id="1026" name="Picture 2" descr="Chain Bridge was the first permanent stone-bridge connecting Pest and Bud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25" y="1406028"/>
            <a:ext cx="45720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990600" y="4353061"/>
            <a:ext cx="324326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http://www.bridgesofbudapest.com/bridge/chain_bridge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3519" y="2834778"/>
            <a:ext cx="4572000" cy="257175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591050" y="5416053"/>
            <a:ext cx="455295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http://www.gettyimages.ca/detail/video/steel-bridge-collapsing-into-river-and-birds-stock-video-footage/125522250</a:t>
            </a:r>
          </a:p>
        </p:txBody>
      </p:sp>
    </p:spTree>
    <p:extLst>
      <p:ext uri="{BB962C8B-B14F-4D97-AF65-F5344CB8AC3E}">
        <p14:creationId xmlns:p14="http://schemas.microsoft.com/office/powerpoint/2010/main" val="36888238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Basic definitions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447800"/>
            <a:ext cx="7498080" cy="45720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b="1" u="sng" dirty="0">
                <a:latin typeface="Arial" panose="020B0604020202020204" pitchFamily="34" charset="0"/>
                <a:cs typeface="Arial" panose="020B0604020202020204" pitchFamily="34" charset="0"/>
              </a:rPr>
              <a:t>Measurement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a process by which a value of particular quantity is obtained</a:t>
            </a:r>
          </a:p>
          <a:p>
            <a:pPr>
              <a:lnSpc>
                <a:spcPct val="150000"/>
              </a:lnSpc>
            </a:pPr>
            <a:r>
              <a:rPr lang="en-US" b="1" u="sng" dirty="0">
                <a:latin typeface="Arial" panose="020B0604020202020204" pitchFamily="34" charset="0"/>
                <a:cs typeface="Arial" panose="020B0604020202020204" pitchFamily="34" charset="0"/>
              </a:rPr>
              <a:t>Value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 a product of a number and the unit of the particular quantity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Through careful measurement we seek to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ESTIMATE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the true value of the quantity</a:t>
            </a:r>
          </a:p>
          <a:p>
            <a:pPr>
              <a:lnSpc>
                <a:spcPct val="150000"/>
              </a:lnSpc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37905" y="6504057"/>
            <a:ext cx="800033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/>
              <a:t>Source: Les Kirkup and Bob Frenkel: An Introduction to the Uncertainty in Measurement</a:t>
            </a:r>
          </a:p>
        </p:txBody>
      </p:sp>
    </p:spTree>
    <p:extLst>
      <p:ext uri="{BB962C8B-B14F-4D97-AF65-F5344CB8AC3E}">
        <p14:creationId xmlns:p14="http://schemas.microsoft.com/office/powerpoint/2010/main" val="4551156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Uncertainty vs. Error</a:t>
            </a:r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lnSpc>
                <a:spcPct val="150000"/>
              </a:lnSpc>
            </a:pPr>
            <a:r>
              <a:rPr lang="en-US" altLang="en-US" b="1" u="sng" dirty="0">
                <a:latin typeface="Arial" panose="020B0604020202020204" pitchFamily="34" charset="0"/>
                <a:cs typeface="Arial" panose="020B0604020202020204" pitchFamily="34" charset="0"/>
              </a:rPr>
              <a:t>Error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is the difference between the measured value and the ‘true value’ of the thing being measured. 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b="1" u="sng" dirty="0">
                <a:latin typeface="Arial" panose="020B0604020202020204" pitchFamily="34" charset="0"/>
                <a:cs typeface="Arial" panose="020B0604020202020204" pitchFamily="34" charset="0"/>
              </a:rPr>
              <a:t>Uncertainty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is a quantification of the doubt about the measurement result.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Uncertainty is a positive number and has the </a:t>
            </a:r>
            <a:r>
              <a:rPr lang="en-US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SAME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units as the measured value</a:t>
            </a:r>
          </a:p>
        </p:txBody>
      </p:sp>
      <p:sp>
        <p:nvSpPr>
          <p:cNvPr id="22532" name="Rectangle 3"/>
          <p:cNvSpPr>
            <a:spLocks noChangeArrowheads="1"/>
          </p:cNvSpPr>
          <p:nvPr/>
        </p:nvSpPr>
        <p:spPr bwMode="auto">
          <a:xfrm>
            <a:off x="2022348" y="6541701"/>
            <a:ext cx="63246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ts val="600"/>
              </a:spcBef>
              <a:buClr>
                <a:schemeClr val="accent1"/>
              </a:buClr>
              <a:buSzPct val="80000"/>
              <a:buFont typeface="Wingdings 2" pitchFamily="18" charset="2"/>
              <a:buChar char=""/>
              <a:defRPr sz="3200">
                <a:solidFill>
                  <a:schemeClr val="tx1"/>
                </a:solidFill>
                <a:latin typeface="Gill Sans MT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Font typeface="Verdana" pitchFamily="34" charset="0"/>
              <a:buChar char="◦"/>
              <a:defRPr sz="2800">
                <a:solidFill>
                  <a:schemeClr val="tx1"/>
                </a:solidFill>
                <a:latin typeface="Gill Sans MT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 2" pitchFamily="18" charset="2"/>
              <a:buChar char=""/>
              <a:defRPr sz="2400">
                <a:solidFill>
                  <a:schemeClr val="tx1"/>
                </a:solidFill>
                <a:latin typeface="Gill Sans MT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C32D2E"/>
              </a:buClr>
              <a:buFont typeface="Wingdings 2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84AA33"/>
              </a:buClr>
              <a:buFont typeface="Wingdings 2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AA33"/>
              </a:buClr>
              <a:buFont typeface="Wingdings 2" pitchFamily="18" charset="2"/>
              <a:buChar char=""/>
              <a:defRPr sz="2000">
                <a:solidFill>
                  <a:schemeClr val="tx1"/>
                </a:solidFill>
                <a:latin typeface="Gill Sans MT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hlinkClick r:id="rId3"/>
              </a:rPr>
              <a:t>http://www.wmo.int/pages/prog/gcos/documents/gruanmanuals/UK_NPL/mgpg11.pdf</a:t>
            </a:r>
            <a:endParaRPr lang="en-US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4224649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Two ways of evaluating standard uncertainty, u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435608" y="1828800"/>
                <a:ext cx="7498080" cy="4800600"/>
              </a:xfrm>
            </p:spPr>
            <p:txBody>
              <a:bodyPr>
                <a:normAutofit fontScale="85000" lnSpcReduction="1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b="1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Type A 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– evaluated by statistical methods (based on the standard deviation)</a:t>
                </a:r>
              </a:p>
              <a:p>
                <a:pPr marL="82296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1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𝑆𝑡𝑑𝑒𝑣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b="1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Type B 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– evaluated by non-statistical methods (e.g. reading a calibration report, manufacturer specification)</a:t>
                </a:r>
              </a:p>
              <a:p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35608" y="1828800"/>
                <a:ext cx="7498080" cy="480060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41334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Propagation of uncertainties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447800"/>
            <a:ext cx="7555992" cy="48006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When the final quantity (value) is calculated based on more than one measured quantity, uncertainties of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all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quantities are combined.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uncertainty for the final value is called the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combined standard uncertainty</a:t>
            </a:r>
          </a:p>
        </p:txBody>
      </p:sp>
    </p:spTree>
    <p:extLst>
      <p:ext uri="{BB962C8B-B14F-4D97-AF65-F5344CB8AC3E}">
        <p14:creationId xmlns:p14="http://schemas.microsoft.com/office/powerpoint/2010/main" val="1529881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Combined standard uncertainty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435608" y="1447800"/>
                <a:ext cx="7632192" cy="480060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If  measured values are x with the uncertainty u(x) and y with the uncertainty u(y)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Calculated value is r=r(x, y), then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𝑟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𝑟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rad>
                  </m:oMath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35608" y="1447800"/>
                <a:ext cx="7632192" cy="480060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1424082" y="4724400"/>
            <a:ext cx="7010400" cy="1676400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4435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4638"/>
            <a:ext cx="8001000" cy="11430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Reporting values and uncertainties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447800"/>
            <a:ext cx="7251192" cy="4800600"/>
          </a:xfrm>
        </p:spPr>
        <p:txBody>
          <a:bodyPr>
            <a:normAutofit fontScale="70000" lnSpcReduction="20000"/>
          </a:bodyPr>
          <a:lstStyle/>
          <a:p>
            <a:pPr marL="82296" indent="0">
              <a:buNone/>
            </a:pPr>
            <a:r>
              <a:rPr lang="en-US" sz="3900" dirty="0">
                <a:latin typeface="Arial" panose="020B0604020202020204" pitchFamily="34" charset="0"/>
                <a:cs typeface="Arial" panose="020B0604020202020204" pitchFamily="34" charset="0"/>
              </a:rPr>
              <a:t>  Procedure:</a:t>
            </a:r>
          </a:p>
          <a:p>
            <a:pPr marL="916686" lvl="1" indent="-514350">
              <a:lnSpc>
                <a:spcPct val="160000"/>
              </a:lnSpc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Determine the value of interest,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keeping all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(or at least many) significant digits.</a:t>
            </a:r>
          </a:p>
          <a:p>
            <a:pPr marL="916686" lvl="1" indent="-514350">
              <a:lnSpc>
                <a:spcPct val="160000"/>
              </a:lnSpc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Determine the uncertainty in the value, and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round it to 1 significant digit.  </a:t>
            </a:r>
          </a:p>
          <a:p>
            <a:pPr marL="916686" lvl="1" indent="-514350">
              <a:lnSpc>
                <a:spcPct val="160000"/>
              </a:lnSpc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Write both the value and the uncertainty in the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same units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with the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same magnitude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If using scientific notation, use the same power of 10 for both).</a:t>
            </a:r>
          </a:p>
          <a:p>
            <a:pPr marL="916686" lvl="1" indent="-514350">
              <a:lnSpc>
                <a:spcPct val="160000"/>
              </a:lnSpc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Round the value to the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same number of decimal places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as the uncertainty.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5562600" y="3269512"/>
            <a:ext cx="2209800" cy="53340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928537" y="3352801"/>
            <a:ext cx="1600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0.0012</a:t>
            </a:r>
            <a:r>
              <a:rPr lang="en-US" dirty="0">
                <a:sym typeface="Wingdings" panose="05000000000000000000" pitchFamily="2" charset="2"/>
              </a:rPr>
              <a:t>0.001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5562600" y="5624623"/>
            <a:ext cx="2209800" cy="53340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5928537" y="5700823"/>
            <a:ext cx="1600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9.8010</a:t>
            </a:r>
            <a:r>
              <a:rPr lang="en-US" dirty="0">
                <a:sym typeface="Wingdings" panose="05000000000000000000" pitchFamily="2" charset="2"/>
              </a:rPr>
              <a:t>9.801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94723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2060" y="228600"/>
            <a:ext cx="7498080" cy="11430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Example: Multiplication; r = x· 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066800" y="1219200"/>
                <a:ext cx="7848600" cy="4800600"/>
              </a:xfrm>
            </p:spPr>
            <p:txBody>
              <a:bodyPr>
                <a:noAutofit/>
              </a:bodyPr>
              <a:lstStyle/>
              <a:p>
                <a:r>
                  <a:rPr lang="en-US" sz="2000" dirty="0">
                    <a:latin typeface="Arial" panose="020B0604020202020204" pitchFamily="34" charset="0"/>
                    <a:ea typeface="Cambria Math"/>
                    <a:cs typeface="Arial" panose="020B0604020202020204" pitchFamily="34" charset="0"/>
                  </a:rPr>
                  <a:t>x = 3.0 u(x) = 0.2 cm; where y = 4.0  u(y)= 0.1 cm</a:t>
                </a: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Calculate r:</a:t>
                </a:r>
              </a:p>
              <a:p>
                <a:pPr marL="82296" indent="0" algn="ctr">
                  <a:buNone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r = x· y = 3.0 cm· 4.0 cm = 12 cm</a:t>
                </a:r>
                <a:r>
                  <a:rPr lang="en-US" sz="2000" baseline="30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  <a:p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Calculate its uncertainty, u(r)</a:t>
                </a:r>
              </a:p>
              <a:p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82296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500" b="0" i="1" smtClean="0">
                          <a:latin typeface="Cambria Math" panose="02040503050406030204" pitchFamily="18" charset="0"/>
                          <a:ea typeface="Cambria Math"/>
                        </a:rPr>
                        <m:t>𝑢</m:t>
                      </m:r>
                      <m:d>
                        <m:dPr>
                          <m:ctrlPr>
                            <a:rPr lang="en-US" sz="25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  <a:ea typeface="Cambria Math"/>
                            </a:rPr>
                            <m:t>𝑟</m:t>
                          </m:r>
                        </m:e>
                      </m:d>
                      <m:r>
                        <a:rPr lang="en-US" sz="2500" i="1">
                          <a:latin typeface="Cambria Math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5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25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5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5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500" i="1">
                                          <a:latin typeface="Cambria Math"/>
                                          <a:ea typeface="Cambria Math"/>
                                        </a:rPr>
                                        <m:t>𝜕</m:t>
                                      </m:r>
                                      <m:r>
                                        <a:rPr lang="en-US" sz="2500" i="1">
                                          <a:latin typeface="Cambria Math"/>
                                          <a:ea typeface="Cambria Math"/>
                                        </a:rPr>
                                        <m:t>𝑟</m:t>
                                      </m:r>
                                    </m:num>
                                    <m:den>
                                      <m:r>
                                        <a:rPr lang="en-US" sz="2500" i="1">
                                          <a:latin typeface="Cambria Math"/>
                                          <a:ea typeface="Cambria Math"/>
                                        </a:rPr>
                                        <m:t>𝜕</m:t>
                                      </m:r>
                                      <m:r>
                                        <a:rPr lang="en-US" sz="2500" i="1">
                                          <a:latin typeface="Cambria Math"/>
                                          <a:ea typeface="Cambria Math"/>
                                        </a:rPr>
                                        <m:t>𝑥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5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5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5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5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500" i="1">
                                          <a:latin typeface="Cambria Math"/>
                                          <a:ea typeface="Cambria Math"/>
                                        </a:rPr>
                                        <m:t>𝜕</m:t>
                                      </m:r>
                                      <m:r>
                                        <a:rPr lang="en-US" sz="2500" i="1">
                                          <a:latin typeface="Cambria Math"/>
                                          <a:ea typeface="Cambria Math"/>
                                        </a:rPr>
                                        <m:t>𝑟</m:t>
                                      </m:r>
                                    </m:num>
                                    <m:den>
                                      <m:r>
                                        <a:rPr lang="en-US" sz="2500" i="1">
                                          <a:latin typeface="Cambria Math"/>
                                          <a:ea typeface="Cambria Math"/>
                                        </a:rPr>
                                        <m:t>𝜕</m:t>
                                      </m:r>
                                      <m:r>
                                        <a:rPr lang="en-US" sz="2500" b="0" i="1" smtClean="0"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  <m:t>𝑦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5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5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5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rad>
                    </m:oMath>
                  </m:oMathPara>
                </a14:m>
                <a:endParaRPr lang="en-US" sz="250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82296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500" b="0" i="1" dirty="0" smtClean="0">
                          <a:latin typeface="Cambria Math" panose="02040503050406030204" pitchFamily="18" charset="0"/>
                          <a:ea typeface="Cambria Math"/>
                        </a:rPr>
                        <m:t>𝑢</m:t>
                      </m:r>
                      <m:d>
                        <m:dPr>
                          <m:ctrlPr>
                            <a:rPr lang="en-US" sz="2500" b="0" i="1" dirty="0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2500" b="0" i="1" dirty="0" smtClean="0">
                              <a:latin typeface="Cambria Math" panose="02040503050406030204" pitchFamily="18" charset="0"/>
                              <a:ea typeface="Cambria Math"/>
                            </a:rPr>
                            <m:t>𝑟</m:t>
                          </m:r>
                        </m:e>
                      </m:d>
                      <m:r>
                        <a:rPr lang="en-US" sz="2500" i="1" dirty="0" smtClean="0">
                          <a:latin typeface="Cambria Math" panose="02040503050406030204" pitchFamily="18" charset="0"/>
                          <a:ea typeface="Cambria Math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500" i="1" dirty="0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2500" i="1" dirty="0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sz="2500" i="1" dirty="0">
                                  <a:latin typeface="Cambria Math" panose="02040503050406030204" pitchFamily="18" charset="0"/>
                                  <a:ea typeface="Cambria Math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500" b="0" i="1" dirty="0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500" i="1" dirty="0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sz="2500" b="0" i="1" dirty="0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en-US" sz="2500" b="0" i="1" dirty="0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500" b="0" i="1" dirty="0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en-US" sz="2500" b="0" i="1" dirty="0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500" b="0" i="1" dirty="0" smtClean="0">
                              <a:latin typeface="Cambria Math" panose="02040503050406030204" pitchFamily="18" charset="0"/>
                              <a:ea typeface="Cambria Math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500" i="1" dirty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sz="2500" b="0" i="1" dirty="0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500" i="1" dirty="0">
                                  <a:latin typeface="Cambria Math" panose="02040503050406030204" pitchFamily="18" charset="0"/>
                                  <a:ea typeface="Cambria Math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500" i="1" dirty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sz="2500" i="1" dirty="0">
                                  <a:latin typeface="Cambria Math" panose="02040503050406030204" pitchFamily="18" charset="0"/>
                                  <a:ea typeface="Cambria Math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en-US" sz="2500" i="1" dirty="0">
                                  <a:latin typeface="Cambria Math" panose="02040503050406030204" pitchFamily="18" charset="0"/>
                                  <a:ea typeface="Cambria Math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500" i="1" dirty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en-US" sz="2500" b="0" i="1" dirty="0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  <m:t>𝑦</m:t>
                              </m:r>
                            </m:e>
                          </m:d>
                        </m:e>
                      </m:rad>
                      <m:r>
                        <a:rPr lang="en-US" sz="2500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50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82296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500" i="1">
                          <a:latin typeface="Cambria Math" panose="02040503050406030204" pitchFamily="18" charset="0"/>
                          <a:ea typeface="Cambria Math"/>
                        </a:rPr>
                        <m:t>u</m:t>
                      </m:r>
                      <m:r>
                        <a:rPr lang="en-US" sz="2500" b="0" i="1" smtClean="0">
                          <a:latin typeface="Cambria Math" panose="02040503050406030204" pitchFamily="18" charset="0"/>
                          <a:ea typeface="Cambria Math"/>
                        </a:rPr>
                        <m:t>(</m:t>
                      </m:r>
                      <m:r>
                        <a:rPr lang="en-US" sz="2500" i="1" smtClean="0">
                          <a:latin typeface="Cambria Math"/>
                          <a:ea typeface="Cambria Math"/>
                        </a:rPr>
                        <m:t>𝑟</m:t>
                      </m:r>
                      <m:r>
                        <a:rPr lang="en-US" sz="2500" b="0" i="1" smtClean="0">
                          <a:latin typeface="Cambria Math" panose="02040503050406030204" pitchFamily="18" charset="0"/>
                          <a:ea typeface="Cambria Math"/>
                        </a:rPr>
                        <m:t>)</m:t>
                      </m:r>
                      <m:r>
                        <a:rPr lang="en-US" sz="2500" i="1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sz="2500" b="0" i="1" smtClean="0">
                          <a:latin typeface="Cambria Math" panose="02040503050406030204" pitchFamily="18" charset="0"/>
                          <a:ea typeface="Cambria Math"/>
                        </a:rPr>
                        <m:t>0.85</m:t>
                      </m:r>
                      <m:r>
                        <a:rPr lang="en-US" sz="250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cm</m:t>
                      </m:r>
                      <m:r>
                        <m:rPr>
                          <m:nor/>
                        </m:rPr>
                        <a:rPr lang="en-US" sz="2500" baseline="30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2</m:t>
                      </m:r>
                    </m:oMath>
                  </m:oMathPara>
                </a14:m>
                <a:endParaRPr lang="en-US" sz="2500" baseline="30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sz="2500" dirty="0">
                    <a:latin typeface="Arial" panose="020B0604020202020204" pitchFamily="34" charset="0"/>
                    <a:cs typeface="Arial" panose="020B0604020202020204" pitchFamily="34" charset="0"/>
                  </a:rPr>
                  <a:t>Report the final value</a:t>
                </a:r>
              </a:p>
              <a:p>
                <a:endParaRPr lang="en-US" sz="25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82296" indent="0" algn="ctr">
                  <a:buNone/>
                </a:pPr>
                <a14:m>
                  <m:oMath xmlns:m="http://schemas.openxmlformats.org/officeDocument/2006/math">
                    <m:r>
                      <a:rPr lang="en-US" sz="2500" i="1">
                        <a:latin typeface="Cambria Math"/>
                        <a:ea typeface="Cambria Math"/>
                      </a:rPr>
                      <m:t>𝑟</m:t>
                    </m:r>
                    <m:r>
                      <a:rPr lang="en-US" sz="2500" i="1">
                        <a:latin typeface="Cambria Math"/>
                        <a:ea typeface="Cambria Math"/>
                      </a:rPr>
                      <m:t>=</m:t>
                    </m:r>
                    <m:r>
                      <m:rPr>
                        <m:nor/>
                      </m:rPr>
                      <a:rPr lang="en-US" sz="2500" b="0" i="0" dirty="0" smtClean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m:t>12.0 </m:t>
                    </m:r>
                    <m:r>
                      <m:rPr>
                        <m:nor/>
                      </m:rPr>
                      <a:rPr lang="en-US" sz="25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cm</m:t>
                    </m:r>
                    <m:r>
                      <m:rPr>
                        <m:nor/>
                      </m:rPr>
                      <a:rPr lang="en-US" sz="2500" baseline="300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2</m:t>
                    </m:r>
                  </m:oMath>
                </a14:m>
                <a:r>
                  <a:rPr lang="en-US" sz="25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500" b="0" i="0" dirty="0" smtClean="0">
                        <a:latin typeface="Cambria Math" panose="02040503050406030204" pitchFamily="18" charset="0"/>
                      </a:rPr>
                      <m:t>     </m:t>
                    </m:r>
                    <m:r>
                      <m:rPr>
                        <m:nor/>
                      </m:rPr>
                      <a:rPr lang="en-US" sz="2500" b="0" i="0" dirty="0" smtClean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u</m:t>
                    </m:r>
                    <m:r>
                      <m:rPr>
                        <m:nor/>
                      </m:rPr>
                      <a:rPr lang="en-US" sz="2500" b="0" i="0" dirty="0" smtClean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(</m:t>
                    </m:r>
                    <m:r>
                      <m:rPr>
                        <m:nor/>
                      </m:rPr>
                      <a:rPr lang="en-US" sz="2500" b="0" i="0" dirty="0" smtClean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r</m:t>
                    </m:r>
                    <m:r>
                      <m:rPr>
                        <m:nor/>
                      </m:rPr>
                      <a:rPr lang="en-US" sz="2500" b="0" i="0" dirty="0" smtClean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) =0.9 </m:t>
                    </m:r>
                    <m:r>
                      <m:rPr>
                        <m:nor/>
                      </m:rPr>
                      <a:rPr lang="en-US" sz="25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cm</m:t>
                    </m:r>
                    <m:r>
                      <m:rPr>
                        <m:nor/>
                      </m:rPr>
                      <a:rPr lang="en-US" sz="2500" baseline="300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2</m:t>
                    </m:r>
                  </m:oMath>
                </a14:m>
                <a:endParaRPr lang="en-US" sz="25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3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6800" y="1219200"/>
                <a:ext cx="7848600" cy="4800600"/>
              </a:xfrm>
              <a:blipFill>
                <a:blip r:embed="rId2"/>
                <a:stretch>
                  <a:fillRect t="-508" b="-83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55602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4638"/>
            <a:ext cx="7714488" cy="11430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Comparing Two Values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219200" y="1417638"/>
            <a:ext cx="7498080" cy="544036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What is the likelihood that x</a:t>
            </a:r>
            <a:r>
              <a:rPr lang="en-US" sz="25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and x</a:t>
            </a:r>
            <a:r>
              <a:rPr lang="en-US" sz="25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differ by at least the amount observed?</a:t>
            </a:r>
          </a:p>
          <a:p>
            <a:pPr>
              <a:lnSpc>
                <a:spcPct val="150000"/>
              </a:lnSpc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2296" indent="0">
              <a:lnSpc>
                <a:spcPct val="150000"/>
              </a:lnSpc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Small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value of |t| means x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and x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are very 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similar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Large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value of |t| means x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and x</a:t>
            </a:r>
            <a:r>
              <a:rPr lang="en-US" sz="22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are very 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dissimilar</a:t>
            </a:r>
          </a:p>
          <a:p>
            <a:pPr>
              <a:lnSpc>
                <a:spcPct val="150000"/>
              </a:lnSpc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2296" indent="0">
              <a:lnSpc>
                <a:spcPct val="150000"/>
              </a:lnSpc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057400" y="2962819"/>
                <a:ext cx="5334000" cy="98450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3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Sup>
                                <m:sSubSupPr>
                                  <m:ctrlPr>
                                    <a:rPr lang="en-US" sz="3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30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sz="30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  <m:sup>
                                  <m:r>
                                    <a:rPr lang="en-US" sz="3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sz="30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US" sz="3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3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30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3000" i="1">
                                  <a:latin typeface="Cambria Math" panose="02040503050406030204" pitchFamily="18" charset="0"/>
                                </a:rPr>
                                <m:t>+ </m:t>
                              </m:r>
                              <m:sSubSup>
                                <m:sSubSupPr>
                                  <m:ctrlPr>
                                    <a:rPr lang="en-US" sz="3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30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sz="30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  <m:sup>
                                  <m:r>
                                    <a:rPr lang="en-US" sz="3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3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3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30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rad>
                        </m:den>
                      </m:f>
                    </m:oMath>
                  </m:oMathPara>
                </a14:m>
                <a:endParaRPr lang="en-US" sz="30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7400" y="2962819"/>
                <a:ext cx="5334000" cy="9845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990600" y="6477000"/>
            <a:ext cx="838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more information please see pages 9 &amp; 10 of “Measurement Uncertainty” on D2L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82198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4638"/>
            <a:ext cx="7714488" cy="11430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Comparing Two Values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6477000"/>
            <a:ext cx="838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more information please see pages 9 &amp; 10 of “Measurement Uncertainty” on D2L</a:t>
            </a:r>
          </a:p>
          <a:p>
            <a:endParaRPr lang="en-US" dirty="0"/>
          </a:p>
        </p:txBody>
      </p:sp>
      <p:sp>
        <p:nvSpPr>
          <p:cNvPr id="10" name="Content Placeholder 3"/>
          <p:cNvSpPr>
            <a:spLocks noGrp="1"/>
          </p:cNvSpPr>
          <p:nvPr>
            <p:ph idx="1"/>
          </p:nvPr>
        </p:nvSpPr>
        <p:spPr>
          <a:xfrm>
            <a:off x="1219200" y="1524000"/>
            <a:ext cx="7498080" cy="53340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 the case of an “accepted value” such as a physical constant, we assume u(x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 = 0 and the equation reduces to: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If |t| &gt; 2 we say these values 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disagree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If |t| &lt; 2 we say these values 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agree</a:t>
            </a:r>
            <a:endParaRPr lang="en-US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2296" indent="0">
              <a:lnSpc>
                <a:spcPct val="150000"/>
              </a:lnSpc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209800" y="3429000"/>
                <a:ext cx="5334000" cy="86626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3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3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3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3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sz="30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800" y="3429000"/>
                <a:ext cx="5334000" cy="86626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10714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4638"/>
            <a:ext cx="7714488" cy="11430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Comparing Two Values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6477000"/>
            <a:ext cx="838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more information please see pages 9 &amp; 10 of “Measurement Uncertainty” on D2L</a:t>
            </a:r>
          </a:p>
          <a:p>
            <a:endParaRPr lang="en-US" dirty="0"/>
          </a:p>
        </p:txBody>
      </p:sp>
      <p:sp>
        <p:nvSpPr>
          <p:cNvPr id="10" name="Content Placeholder 3"/>
          <p:cNvSpPr>
            <a:spLocks noGrp="1"/>
          </p:cNvSpPr>
          <p:nvPr>
            <p:ph idx="1"/>
          </p:nvPr>
        </p:nvSpPr>
        <p:spPr>
          <a:xfrm>
            <a:off x="1219200" y="1524000"/>
            <a:ext cx="7498080" cy="53340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For example, say we measure: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g = 9.5 m/s</a:t>
            </a:r>
            <a:r>
              <a:rPr lang="en-US" sz="2000" baseline="30000" dirty="0">
                <a:latin typeface="Arial" panose="020B0604020202020204" pitchFamily="34" charset="0"/>
                <a:cs typeface="Arial" panose="020B0604020202020204" pitchFamily="34" charset="0"/>
              </a:rPr>
              <a:t>2 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u(g) = 0.2 m/s</a:t>
            </a:r>
            <a:r>
              <a:rPr lang="en-US" sz="2000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= 9.8080 m/s</a:t>
            </a:r>
            <a:r>
              <a:rPr lang="en-US" sz="2000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u(g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 = 0.0001 m/s</a:t>
            </a:r>
            <a:r>
              <a:rPr lang="en-US" sz="2000" baseline="30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</a:p>
          <a:p>
            <a:pPr lvl="1">
              <a:lnSpc>
                <a:spcPct val="150000"/>
              </a:lnSpc>
            </a:pPr>
            <a:endParaRPr lang="en-US" sz="20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endParaRPr lang="en-US" sz="20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endParaRPr lang="en-US" sz="20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endParaRPr lang="en-US" sz="20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endParaRPr lang="en-US" sz="20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endParaRPr lang="en-US" sz="20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So we can say these values </a:t>
            </a:r>
            <a:r>
              <a:rPr lang="en-US" sz="25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 agree</a:t>
            </a:r>
          </a:p>
          <a:p>
            <a:pPr marL="82296" indent="0">
              <a:lnSpc>
                <a:spcPct val="150000"/>
              </a:lnSpc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024602" y="3581400"/>
                <a:ext cx="6905244" cy="214552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en-US" sz="30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sz="300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3000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US" sz="3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30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ctrlPr>
                                  <a:rPr lang="en-US" sz="3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3000" b="0" i="1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</m:d>
                            <m:r>
                              <a:rPr lang="en-US" sz="3000" i="1">
                                <a:latin typeface="Cambria Math" panose="02040503050406030204" pitchFamily="18" charset="0"/>
                              </a:rPr>
                              <m:t>+ </m:t>
                            </m:r>
                            <m:sSup>
                              <m:sSupPr>
                                <m:ctrlPr>
                                  <a:rPr lang="en-US" sz="300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3000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US" sz="3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3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000" b="0" i="1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en-US" sz="3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sz="3000" dirty="0">
                    <a:latin typeface="Arial" panose="020B0604020202020204" pitchFamily="34" charset="0"/>
                    <a:cs typeface="Arial" panose="020B0604020202020204" pitchFamily="34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9.5</m:t>
                        </m:r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9.8080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30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d>
                              <m:dPr>
                                <m:ctrlPr>
                                  <a:rPr lang="en-US" sz="3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3000" b="0" i="1" smtClean="0">
                                    <a:latin typeface="Cambria Math" panose="02040503050406030204" pitchFamily="18" charset="0"/>
                                  </a:rPr>
                                  <m:t>0.2</m:t>
                                </m:r>
                              </m:e>
                            </m:d>
                            <m:r>
                              <a:rPr lang="en-US" sz="3000" b="0" i="1" baseline="3000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ctrlPr>
                                  <a:rPr lang="en-US" sz="3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3000" b="0" i="1" smtClean="0">
                                    <a:latin typeface="Cambria Math" panose="02040503050406030204" pitchFamily="18" charset="0"/>
                                  </a:rPr>
                                  <m:t>0.0001</m:t>
                                </m:r>
                              </m:e>
                            </m:d>
                            <m:r>
                              <a:rPr lang="en-US" sz="3000" b="0" i="1" baseline="3000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endParaRPr lang="en-US" sz="3000" dirty="0">
                  <a:latin typeface="Arial" panose="020B0604020202020204" pitchFamily="34" charset="0"/>
                </a:endParaRPr>
              </a:p>
              <a:p>
                <a:endParaRPr lang="en-US" sz="30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3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3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3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3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1.54</m:t>
                      </m:r>
                    </m:oMath>
                  </m:oMathPara>
                </a14:m>
                <a:endParaRPr lang="en-US" sz="30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3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4602" y="3581400"/>
                <a:ext cx="6905244" cy="2145524"/>
              </a:xfrm>
              <a:prstGeom prst="rect">
                <a:avLst/>
              </a:prstGeom>
              <a:blipFill>
                <a:blip r:embed="rId2"/>
                <a:stretch>
                  <a:fillRect t="-17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94462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Lab 1 - Procedure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447800"/>
            <a:ext cx="7498080" cy="4800600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7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Determine a reasonable value for the uncertainty in your time measurement due to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human reaction time.</a:t>
            </a:r>
          </a:p>
          <a:p>
            <a:pPr>
              <a:lnSpc>
                <a:spcPct val="17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Measure you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pendulum length</a:t>
            </a:r>
          </a:p>
          <a:p>
            <a:pPr>
              <a:lnSpc>
                <a:spcPct val="17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Measure a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single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oscillation (Method 1)</a:t>
            </a:r>
          </a:p>
          <a:p>
            <a:pPr>
              <a:lnSpc>
                <a:spcPct val="17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Measure a single oscillation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multiple times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(Method 2)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7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Measure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multiple oscillations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(Method 3)</a:t>
            </a:r>
          </a:p>
          <a:p>
            <a:pPr>
              <a:lnSpc>
                <a:spcPct val="17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Vary the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length of the string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and measure multiple oscillations (Method 4)</a:t>
            </a:r>
          </a:p>
          <a:p>
            <a:pPr>
              <a:lnSpc>
                <a:spcPct val="17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Estimate the uncertainty in </a:t>
            </a:r>
            <a:r>
              <a:rPr lang="en-US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EACH CASE</a:t>
            </a:r>
          </a:p>
        </p:txBody>
      </p:sp>
    </p:spTree>
    <p:extLst>
      <p:ext uri="{BB962C8B-B14F-4D97-AF65-F5344CB8AC3E}">
        <p14:creationId xmlns:p14="http://schemas.microsoft.com/office/powerpoint/2010/main" val="28337703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Lab 1 – Plotting your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447800"/>
            <a:ext cx="7714488" cy="4800600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On D2L you will find a Line Fitting Template containing two tools (under Templates):</a:t>
            </a:r>
          </a:p>
          <a:p>
            <a:pPr lvl="1">
              <a:lnSpc>
                <a:spcPct val="150000"/>
              </a:lnSpc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LINEST</a:t>
            </a:r>
          </a:p>
          <a:p>
            <a:pPr lvl="2"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Type A uncertainties</a:t>
            </a:r>
          </a:p>
          <a:p>
            <a:pPr lvl="2"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Uses least-squares fitting</a:t>
            </a:r>
          </a:p>
          <a:p>
            <a:pPr lvl="2"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Assumes the same uncertainty for all points</a:t>
            </a:r>
          </a:p>
          <a:p>
            <a:pPr lvl="1">
              <a:lnSpc>
                <a:spcPct val="150000"/>
              </a:lnSpc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Fit with Uncertainty</a:t>
            </a:r>
          </a:p>
          <a:p>
            <a:pPr lvl="2"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Type A and Type B uncertainties</a:t>
            </a:r>
          </a:p>
          <a:p>
            <a:pPr lvl="2"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Different uncertainties for different points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 more info see “Measurement Uncertainty” document on D2L</a:t>
            </a:r>
          </a:p>
        </p:txBody>
      </p:sp>
    </p:spTree>
    <p:extLst>
      <p:ext uri="{BB962C8B-B14F-4D97-AF65-F5344CB8AC3E}">
        <p14:creationId xmlns:p14="http://schemas.microsoft.com/office/powerpoint/2010/main" val="35659477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Lab 1 – Plotting your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447800"/>
            <a:ext cx="7790688" cy="4800600"/>
          </a:xfrm>
        </p:spPr>
        <p:txBody>
          <a:bodyPr>
            <a:normAutofit fontScale="62500" lnSpcReduction="20000"/>
          </a:bodyPr>
          <a:lstStyle/>
          <a:p>
            <a:pPr marL="82296" indent="0">
              <a:lnSpc>
                <a:spcPct val="160000"/>
              </a:lnSpc>
              <a:buNone/>
            </a:pP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So which one should we use? Consider our responding variable, T</a:t>
            </a:r>
            <a:r>
              <a:rPr lang="en-US" sz="3400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82296" indent="0">
              <a:lnSpc>
                <a:spcPct val="160000"/>
              </a:lnSpc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2296" indent="0">
              <a:lnSpc>
                <a:spcPct val="160000"/>
              </a:lnSpc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2296" indent="0">
              <a:lnSpc>
                <a:spcPct val="160000"/>
              </a:lnSpc>
              <a:buNone/>
            </a:pPr>
            <a:endParaRPr lang="en-US" sz="3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60000"/>
              </a:lnSpc>
            </a:pP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T is not constant, (we are changing the string length so the period should change also) so u(T</a:t>
            </a:r>
            <a:r>
              <a:rPr lang="en-US" sz="3400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) is not constant</a:t>
            </a:r>
          </a:p>
          <a:p>
            <a:pPr>
              <a:lnSpc>
                <a:spcPct val="160000"/>
              </a:lnSpc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So, use the </a:t>
            </a:r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“Fit with Uncertainty”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975E6299-F535-466D-A7F9-1C1DFF1CC6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172922"/>
              </p:ext>
            </p:extLst>
          </p:nvPr>
        </p:nvGraphicFramePr>
        <p:xfrm>
          <a:off x="2355686" y="2574125"/>
          <a:ext cx="5657923" cy="1254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92160" imgH="419040" progId="Equation.DSMT4">
                  <p:embed/>
                </p:oleObj>
              </mc:Choice>
              <mc:Fallback>
                <p:oleObj name="Equation" r:id="rId2" imgW="1892160" imgH="41904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975E6299-F535-466D-A7F9-1C1DFF1CC6E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355686" y="2574125"/>
                        <a:ext cx="5657923" cy="1254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369252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Before you leave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2209800"/>
            <a:ext cx="7498080" cy="4038600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Submit your raw data to the Dropbox!</a:t>
            </a:r>
          </a:p>
          <a:p>
            <a:pPr marL="82296" indent="0" algn="ctr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(Must be submitted within 1 hour of lab completion)</a:t>
            </a:r>
          </a:p>
        </p:txBody>
      </p:sp>
    </p:spTree>
    <p:extLst>
      <p:ext uri="{BB962C8B-B14F-4D97-AF65-F5344CB8AC3E}">
        <p14:creationId xmlns:p14="http://schemas.microsoft.com/office/powerpoint/2010/main" val="2350952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Preparing your lab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 a word editor (no written by hand reports)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You may use AI tools to help prepare your lab report, but you must ensure that it is consistent with the notation and approaches used in this course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Keep it CLEAR &amp; SHORT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Example report available on D2L</a:t>
            </a:r>
          </a:p>
          <a:p>
            <a:pPr marL="402336" lvl="1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2296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52129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Lab reports due 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447800"/>
            <a:ext cx="7498080" cy="5135562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Final Laboratory reports are due at 11:59 p.m.,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one week after the date of lab completion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There should be one report per group submitted to a Dropbox on D2L 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You can resubmit the report before the deadline but only the most recent submission will be graded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Submit as a PDF file only</a:t>
            </a:r>
          </a:p>
        </p:txBody>
      </p:sp>
    </p:spTree>
    <p:extLst>
      <p:ext uri="{BB962C8B-B14F-4D97-AF65-F5344CB8AC3E}">
        <p14:creationId xmlns:p14="http://schemas.microsoft.com/office/powerpoint/2010/main" val="26770899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TAs: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219200"/>
            <a:ext cx="7498080" cy="5029200"/>
          </a:xfrm>
        </p:spPr>
        <p:txBody>
          <a:bodyPr>
            <a:normAutofit fontScale="92500" lnSpcReduction="10000"/>
          </a:bodyPr>
          <a:lstStyle/>
          <a:p>
            <a:r>
              <a:rPr lang="en-US" sz="2600" dirty="0">
                <a:latin typeface="Arial Narrow" panose="020B0606020202030204" pitchFamily="34" charset="0"/>
              </a:rPr>
              <a:t>Please enter attendance mark at the same day as the lab session(1-attended, 0-not attended). If a student was late(within 20 min) deduct 1 mark from his/her lab report.</a:t>
            </a:r>
          </a:p>
          <a:p>
            <a:r>
              <a:rPr lang="en-US" sz="2600" dirty="0">
                <a:latin typeface="Arial Narrow" panose="020B0606020202030204" pitchFamily="34" charset="0"/>
              </a:rPr>
              <a:t>At the beginning ask them to log into D2L and enroll the group individually. If they had any mistake there, you have access to modify it through your D2L.</a:t>
            </a:r>
          </a:p>
          <a:p>
            <a:r>
              <a:rPr lang="en-US" sz="2600" dirty="0">
                <a:latin typeface="Arial Narrow" panose="020B0606020202030204" pitchFamily="34" charset="0"/>
              </a:rPr>
              <a:t>To mark lab reports we should be consistent. Please follow the rubric carefully, add detailed comments where you deduct mark, no deduction less than 0.25!</a:t>
            </a:r>
          </a:p>
          <a:p>
            <a:r>
              <a:rPr lang="en-US" sz="2600" dirty="0">
                <a:solidFill>
                  <a:schemeClr val="accent1">
                    <a:lumMod val="75000"/>
                  </a:schemeClr>
                </a:solidFill>
                <a:latin typeface="Arial Narrow" panose="020B0606020202030204" pitchFamily="34" charset="0"/>
              </a:rPr>
              <a:t>For instance:</a:t>
            </a:r>
          </a:p>
          <a:p>
            <a:pPr marL="82296" indent="0">
              <a:buNone/>
            </a:pPr>
            <a:r>
              <a:rPr lang="en-US" sz="2600" dirty="0">
                <a:solidFill>
                  <a:schemeClr val="accent1">
                    <a:lumMod val="75000"/>
                  </a:schemeClr>
                </a:solidFill>
                <a:latin typeface="Arial Narrow" panose="020B0606020202030204" pitchFamily="34" charset="0"/>
              </a:rPr>
              <a:t>u(g) = 2.7186 m/s2.</a:t>
            </a:r>
          </a:p>
          <a:p>
            <a:pPr marL="82296" indent="0">
              <a:buNone/>
            </a:pPr>
            <a:r>
              <a:rPr lang="en-US" sz="2600" dirty="0">
                <a:solidFill>
                  <a:schemeClr val="accent1">
                    <a:lumMod val="75000"/>
                  </a:schemeClr>
                </a:solidFill>
                <a:latin typeface="Arial Narrow" panose="020B0606020202030204" pitchFamily="34" charset="0"/>
              </a:rPr>
              <a:t>TA comment: (-0.25,You should round these properly when you present the final answer)</a:t>
            </a:r>
          </a:p>
        </p:txBody>
      </p:sp>
    </p:spTree>
    <p:extLst>
      <p:ext uri="{BB962C8B-B14F-4D97-AF65-F5344CB8AC3E}">
        <p14:creationId xmlns:p14="http://schemas.microsoft.com/office/powerpoint/2010/main" val="251062509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10985</TotalTime>
  <Words>1754</Words>
  <Application>Microsoft Macintosh PowerPoint</Application>
  <PresentationFormat>On-screen Show (4:3)</PresentationFormat>
  <Paragraphs>171</Paragraphs>
  <Slides>27</Slides>
  <Notes>6</Notes>
  <HiddenSlides>1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7" baseType="lpstr">
      <vt:lpstr>Arial</vt:lpstr>
      <vt:lpstr>Arial Narrow</vt:lpstr>
      <vt:lpstr>Calibri</vt:lpstr>
      <vt:lpstr>Cambria Math</vt:lpstr>
      <vt:lpstr>Gill Sans MT</vt:lpstr>
      <vt:lpstr>Verdana</vt:lpstr>
      <vt:lpstr>Wingdings</vt:lpstr>
      <vt:lpstr>Wingdings 2</vt:lpstr>
      <vt:lpstr>Solstice</vt:lpstr>
      <vt:lpstr>Equation</vt:lpstr>
      <vt:lpstr>PowerPoint Presentation</vt:lpstr>
      <vt:lpstr>Lab rules</vt:lpstr>
      <vt:lpstr>Lab rules</vt:lpstr>
      <vt:lpstr>Lab D2L site</vt:lpstr>
      <vt:lpstr>Group formation</vt:lpstr>
      <vt:lpstr>Tips on working in groups</vt:lpstr>
      <vt:lpstr>Form your groups now</vt:lpstr>
      <vt:lpstr>PowerPoint Presentation</vt:lpstr>
      <vt:lpstr>PowerPoint Presentation</vt:lpstr>
      <vt:lpstr>Why do we need uncertainties?</vt:lpstr>
      <vt:lpstr>Basic definitions</vt:lpstr>
      <vt:lpstr>Uncertainty vs. Error</vt:lpstr>
      <vt:lpstr>Two ways of evaluating standard uncertainty, u</vt:lpstr>
      <vt:lpstr>Propagation of uncertainties</vt:lpstr>
      <vt:lpstr>Combined standard uncertainty</vt:lpstr>
      <vt:lpstr>Reporting values and uncertainties</vt:lpstr>
      <vt:lpstr>Example: Multiplication; r = x· y</vt:lpstr>
      <vt:lpstr>Comparing Two Values</vt:lpstr>
      <vt:lpstr>Comparing Two Values</vt:lpstr>
      <vt:lpstr>Comparing Two Values</vt:lpstr>
      <vt:lpstr>Lab 1 - Procedure</vt:lpstr>
      <vt:lpstr>Lab 1 – Plotting your results</vt:lpstr>
      <vt:lpstr>Lab 1 – Plotting your results</vt:lpstr>
      <vt:lpstr>Before you leave</vt:lpstr>
      <vt:lpstr>Preparing your lab report</vt:lpstr>
      <vt:lpstr>Lab reports due date</vt:lpstr>
      <vt:lpstr>For TAs:</vt:lpstr>
    </vt:vector>
  </TitlesOfParts>
  <Company>University of Manitoba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Laboratory report</dc:title>
  <dc:creator>Marzena</dc:creator>
  <cp:lastModifiedBy>Sean Stotyn</cp:lastModifiedBy>
  <cp:revision>116</cp:revision>
  <dcterms:created xsi:type="dcterms:W3CDTF">2014-01-08T19:20:15Z</dcterms:created>
  <dcterms:modified xsi:type="dcterms:W3CDTF">2025-09-03T20:42:47Z</dcterms:modified>
</cp:coreProperties>
</file>